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77" r:id="rId4"/>
    <p:sldId id="258" r:id="rId5"/>
    <p:sldId id="261" r:id="rId6"/>
    <p:sldId id="271" r:id="rId7"/>
    <p:sldId id="270" r:id="rId8"/>
    <p:sldId id="272" r:id="rId9"/>
    <p:sldId id="273" r:id="rId10"/>
    <p:sldId id="259" r:id="rId11"/>
    <p:sldId id="260" r:id="rId12"/>
    <p:sldId id="262" r:id="rId13"/>
    <p:sldId id="280" r:id="rId14"/>
    <p:sldId id="264" r:id="rId15"/>
    <p:sldId id="265" r:id="rId16"/>
    <p:sldId id="276" r:id="rId17"/>
    <p:sldId id="278" r:id="rId18"/>
    <p:sldId id="279" r:id="rId19"/>
    <p:sldId id="269" r:id="rId20"/>
    <p:sldId id="275" r:id="rId21"/>
  </p:sldIdLst>
  <p:sldSz cx="9144000" cy="6858000" type="screen4x3"/>
  <p:notesSz cx="6858000" cy="9144000"/>
  <p:embeddedFontLst>
    <p:embeddedFont>
      <p:font typeface="Archivo Narrow" panose="020B0604020202020204" charset="0"/>
      <p:regular r:id="rId23"/>
      <p:bold r:id="rId24"/>
      <p:italic r:id="rId25"/>
      <p:boldItalic r:id="rId26"/>
    </p:embeddedFont>
    <p:embeddedFont>
      <p:font typeface="Georgia" panose="02040502050405020303" pitchFamily="18" charset="0"/>
      <p:regular r:id="rId27"/>
      <p:bold r:id="rId28"/>
      <p:italic r:id="rId29"/>
      <p:boldItalic r:id="rId30"/>
    </p:embeddedFont>
    <p:embeddedFont>
      <p:font typeface="Palatino Linotype" panose="02040502050505030304" pitchFamily="18"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gHpi7dtEARfT/IEg8ZNf1BnP9e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66F01D-3274-4D9F-8E81-E456354D3126}">
  <a:tblStyle styleId="{AC66F01D-3274-4D9F-8E81-E456354D31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63" autoAdjust="0"/>
    <p:restoredTop sz="94660"/>
  </p:normalViewPr>
  <p:slideViewPr>
    <p:cSldViewPr snapToGrid="0">
      <p:cViewPr varScale="1">
        <p:scale>
          <a:sx n="87" d="100"/>
          <a:sy n="87" d="100"/>
        </p:scale>
        <p:origin x="1108"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9T15:31:37.871"/>
    </inkml:context>
    <inkml:brush xml:id="br0">
      <inkml:brushProperty name="width" value="0.05" units="cm"/>
      <inkml:brushProperty name="height" value="0.0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
        <p:nvSpPr>
          <p:cNvPr id="145" name="Google Shape;145;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GB"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CF34025-4C5D-AF02-721B-3F4A695DFAAC}"/>
            </a:ext>
          </a:extLst>
        </p:cNvPr>
        <p:cNvGrpSpPr/>
        <p:nvPr/>
      </p:nvGrpSpPr>
      <p:grpSpPr>
        <a:xfrm>
          <a:off x="0" y="0"/>
          <a:ext cx="0" cy="0"/>
          <a:chOff x="0" y="0"/>
          <a:chExt cx="0" cy="0"/>
        </a:xfrm>
      </p:grpSpPr>
      <p:sp>
        <p:nvSpPr>
          <p:cNvPr id="143" name="Google Shape;143;p6:notes">
            <a:extLst>
              <a:ext uri="{FF2B5EF4-FFF2-40B4-BE49-F238E27FC236}">
                <a16:creationId xmlns:a16="http://schemas.microsoft.com/office/drawing/2014/main" id="{90921799-0631-8CB1-5BB7-999AF26488B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a:extLst>
              <a:ext uri="{FF2B5EF4-FFF2-40B4-BE49-F238E27FC236}">
                <a16:creationId xmlns:a16="http://schemas.microsoft.com/office/drawing/2014/main" id="{50682507-84E6-F6EF-675C-4129126206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
        <p:nvSpPr>
          <p:cNvPr id="145" name="Google Shape;145;p6:notes">
            <a:extLst>
              <a:ext uri="{FF2B5EF4-FFF2-40B4-BE49-F238E27FC236}">
                <a16:creationId xmlns:a16="http://schemas.microsoft.com/office/drawing/2014/main" id="{730B2E3A-84DD-0021-780E-1FBF21EF2F52}"/>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GB"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3847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15B9BE63-B28F-4BC2-AC13-384A7A6B93C5}"/>
            </a:ext>
          </a:extLst>
        </p:cNvPr>
        <p:cNvGrpSpPr/>
        <p:nvPr/>
      </p:nvGrpSpPr>
      <p:grpSpPr>
        <a:xfrm>
          <a:off x="0" y="0"/>
          <a:ext cx="0" cy="0"/>
          <a:chOff x="0" y="0"/>
          <a:chExt cx="0" cy="0"/>
        </a:xfrm>
      </p:grpSpPr>
      <p:sp>
        <p:nvSpPr>
          <p:cNvPr id="143" name="Google Shape;143;p6:notes">
            <a:extLst>
              <a:ext uri="{FF2B5EF4-FFF2-40B4-BE49-F238E27FC236}">
                <a16:creationId xmlns:a16="http://schemas.microsoft.com/office/drawing/2014/main" id="{45D217E5-FB24-4BFD-5411-8F3BA3165DE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a:extLst>
              <a:ext uri="{FF2B5EF4-FFF2-40B4-BE49-F238E27FC236}">
                <a16:creationId xmlns:a16="http://schemas.microsoft.com/office/drawing/2014/main" id="{E223AE5E-9B7C-56CC-17D9-A259FCF5DF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
        <p:nvSpPr>
          <p:cNvPr id="145" name="Google Shape;145;p6:notes">
            <a:extLst>
              <a:ext uri="{FF2B5EF4-FFF2-40B4-BE49-F238E27FC236}">
                <a16:creationId xmlns:a16="http://schemas.microsoft.com/office/drawing/2014/main" id="{AE28F8D6-059F-94BB-AC2E-321EE996942D}"/>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GB"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95023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462CACE-B6CD-1A8D-5777-CECAB5FF3BF6}"/>
            </a:ext>
          </a:extLst>
        </p:cNvPr>
        <p:cNvGrpSpPr/>
        <p:nvPr/>
      </p:nvGrpSpPr>
      <p:grpSpPr>
        <a:xfrm>
          <a:off x="0" y="0"/>
          <a:ext cx="0" cy="0"/>
          <a:chOff x="0" y="0"/>
          <a:chExt cx="0" cy="0"/>
        </a:xfrm>
      </p:grpSpPr>
      <p:sp>
        <p:nvSpPr>
          <p:cNvPr id="143" name="Google Shape;143;p6:notes">
            <a:extLst>
              <a:ext uri="{FF2B5EF4-FFF2-40B4-BE49-F238E27FC236}">
                <a16:creationId xmlns:a16="http://schemas.microsoft.com/office/drawing/2014/main" id="{12ACC3E4-6816-6E08-A317-A2253B4B595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a:extLst>
              <a:ext uri="{FF2B5EF4-FFF2-40B4-BE49-F238E27FC236}">
                <a16:creationId xmlns:a16="http://schemas.microsoft.com/office/drawing/2014/main" id="{F5C298F1-A8CD-95A3-77D2-3DA2933C84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
        <p:nvSpPr>
          <p:cNvPr id="145" name="Google Shape;145;p6:notes">
            <a:extLst>
              <a:ext uri="{FF2B5EF4-FFF2-40B4-BE49-F238E27FC236}">
                <a16:creationId xmlns:a16="http://schemas.microsoft.com/office/drawing/2014/main" id="{20C23155-3348-0FA1-3A09-0DEBD18644BC}"/>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GB"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62936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FBA21C38-73FD-BCFE-7779-F11DE52701F4}"/>
            </a:ext>
          </a:extLst>
        </p:cNvPr>
        <p:cNvGrpSpPr/>
        <p:nvPr/>
      </p:nvGrpSpPr>
      <p:grpSpPr>
        <a:xfrm>
          <a:off x="0" y="0"/>
          <a:ext cx="0" cy="0"/>
          <a:chOff x="0" y="0"/>
          <a:chExt cx="0" cy="0"/>
        </a:xfrm>
      </p:grpSpPr>
      <p:sp>
        <p:nvSpPr>
          <p:cNvPr id="143" name="Google Shape;143;p6:notes">
            <a:extLst>
              <a:ext uri="{FF2B5EF4-FFF2-40B4-BE49-F238E27FC236}">
                <a16:creationId xmlns:a16="http://schemas.microsoft.com/office/drawing/2014/main" id="{B9BDEF5E-E862-BAF9-703C-840960BC6E8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6:notes">
            <a:extLst>
              <a:ext uri="{FF2B5EF4-FFF2-40B4-BE49-F238E27FC236}">
                <a16:creationId xmlns:a16="http://schemas.microsoft.com/office/drawing/2014/main" id="{4C9F9C2D-471F-D4E0-1FDE-FD114D7686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
        <p:nvSpPr>
          <p:cNvPr id="145" name="Google Shape;145;p6:notes">
            <a:extLst>
              <a:ext uri="{FF2B5EF4-FFF2-40B4-BE49-F238E27FC236}">
                <a16:creationId xmlns:a16="http://schemas.microsoft.com/office/drawing/2014/main" id="{119D9462-59C4-F6F8-D291-D9434DF73885}"/>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GB"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30549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GB"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c61edcaedb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c61edcaed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c61edcaedb_1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c61edcaedb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c61edcaedb_1_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c61edcaedb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c61edcaedb_1_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c61edcaedb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CBA192AD-C497-2CC5-134F-3503B264C76C}"/>
            </a:ext>
          </a:extLst>
        </p:cNvPr>
        <p:cNvGrpSpPr/>
        <p:nvPr/>
      </p:nvGrpSpPr>
      <p:grpSpPr>
        <a:xfrm>
          <a:off x="0" y="0"/>
          <a:ext cx="0" cy="0"/>
          <a:chOff x="0" y="0"/>
          <a:chExt cx="0" cy="0"/>
        </a:xfrm>
      </p:grpSpPr>
      <p:sp>
        <p:nvSpPr>
          <p:cNvPr id="170" name="Google Shape;170;g3c61edcaedb_1_36:notes">
            <a:extLst>
              <a:ext uri="{FF2B5EF4-FFF2-40B4-BE49-F238E27FC236}">
                <a16:creationId xmlns:a16="http://schemas.microsoft.com/office/drawing/2014/main" id="{BA96DC8A-E117-96DF-9871-6966670976E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c61edcaedb_1_36:notes">
            <a:extLst>
              <a:ext uri="{FF2B5EF4-FFF2-40B4-BE49-F238E27FC236}">
                <a16:creationId xmlns:a16="http://schemas.microsoft.com/office/drawing/2014/main" id="{CE49B307-5F0F-E227-090F-D5B83DBE8D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82719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1"/>
          <p:cNvSpPr txBox="1">
            <a:spLocks noGrp="1"/>
          </p:cNvSpPr>
          <p:nvPr>
            <p:ph type="ctrTitle"/>
          </p:nvPr>
        </p:nvSpPr>
        <p:spPr>
          <a:xfrm>
            <a:off x="311700" y="1886797"/>
            <a:ext cx="8520600" cy="1842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1" name="Google Shape;11;p11"/>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11"/>
          <p:cNvSpPr/>
          <p:nvPr/>
        </p:nvSpPr>
        <p:spPr>
          <a:xfrm flipH="1">
            <a:off x="18" y="67300"/>
            <a:ext cx="9143982"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11"/>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 name="Google Shape;15;p11"/>
          <p:cNvPicPr preferRelativeResize="0"/>
          <p:nvPr/>
        </p:nvPicPr>
        <p:blipFill rotWithShape="1">
          <a:blip r:embed="rId2">
            <a:alphaModFix/>
          </a:blip>
          <a:srcRect/>
          <a:stretch/>
        </p:blipFill>
        <p:spPr>
          <a:xfrm>
            <a:off x="6090546" y="342390"/>
            <a:ext cx="2463805" cy="779367"/>
          </a:xfrm>
          <a:prstGeom prst="rect">
            <a:avLst/>
          </a:prstGeom>
          <a:noFill/>
          <a:ln>
            <a:noFill/>
          </a:ln>
        </p:spPr>
      </p:pic>
      <p:sp>
        <p:nvSpPr>
          <p:cNvPr id="16" name="Google Shape;16;p11"/>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11"/>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Georgia"/>
                <a:ea typeface="Georgia"/>
                <a:cs typeface="Georgia"/>
                <a:sym typeface="Georgia"/>
              </a:rPr>
              <a:t>MISSION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b="0" i="0" u="none" strike="noStrike" cap="none">
              <a:solidFill>
                <a:srgbClr val="FFFFFF"/>
              </a:solidFill>
              <a:latin typeface="Georgia"/>
              <a:ea typeface="Georgia"/>
              <a:cs typeface="Georgia"/>
              <a:sym typeface="Georgia"/>
            </a:endParaRPr>
          </a:p>
        </p:txBody>
      </p:sp>
      <p:sp>
        <p:nvSpPr>
          <p:cNvPr id="18" name="Google Shape;18;p11"/>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Georgia"/>
                <a:ea typeface="Georgia"/>
                <a:cs typeface="Georgia"/>
                <a:sym typeface="Georgia"/>
              </a:rPr>
              <a:t>VISION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rgbClr val="FFFFFF"/>
                </a:solidFill>
                <a:latin typeface="Georgia"/>
                <a:ea typeface="Georgia"/>
                <a:cs typeface="Georgia"/>
                <a:sym typeface="Georgia"/>
              </a:rPr>
              <a:t>Excellence and Service</a:t>
            </a:r>
            <a:endParaRPr sz="1100" b="0" i="0" u="none" strike="noStrike" cap="none">
              <a:solidFill>
                <a:srgbClr val="FFFFFF"/>
              </a:solidFill>
              <a:latin typeface="Georgia"/>
              <a:ea typeface="Georgia"/>
              <a:cs typeface="Georgia"/>
              <a:sym typeface="Georgia"/>
            </a:endParaRPr>
          </a:p>
        </p:txBody>
      </p:sp>
      <p:sp>
        <p:nvSpPr>
          <p:cNvPr id="19" name="Google Shape;19;p11"/>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1" i="0" u="none" strike="noStrike" cap="none">
                <a:solidFill>
                  <a:srgbClr val="FFFFFF"/>
                </a:solidFill>
                <a:latin typeface="Georgia"/>
                <a:ea typeface="Georgia"/>
                <a:cs typeface="Georgia"/>
                <a:sym typeface="Georgia"/>
              </a:rPr>
              <a:t>CORE  VALUES</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GB" sz="1100" b="0" i="0" u="none" strike="noStrike" cap="none">
                <a:solidFill>
                  <a:srgbClr val="FFFFFF"/>
                </a:solidFill>
                <a:latin typeface="Georgia"/>
                <a:ea typeface="Georgia"/>
                <a:cs typeface="Georgia"/>
                <a:sym typeface="Georgia"/>
              </a:rPr>
              <a:t>Faith in God |  Moral Uprightness</a:t>
            </a:r>
            <a:br>
              <a:rPr lang="en-GB" sz="1100" b="0" i="0" u="none" strike="noStrike" cap="none">
                <a:solidFill>
                  <a:srgbClr val="FFFFFF"/>
                </a:solidFill>
                <a:latin typeface="Georgia"/>
                <a:ea typeface="Georgia"/>
                <a:cs typeface="Georgia"/>
                <a:sym typeface="Georgia"/>
              </a:rPr>
            </a:br>
            <a:r>
              <a:rPr lang="en-GB" sz="1100" b="0" i="0" u="none" strike="noStrike" cap="none">
                <a:solidFill>
                  <a:srgbClr val="FFFFFF"/>
                </a:solidFill>
                <a:latin typeface="Georgia"/>
                <a:ea typeface="Georgia"/>
                <a:cs typeface="Georgia"/>
                <a:sym typeface="Georgia"/>
              </a:rPr>
              <a:t> Love of Fellow Beings   </a:t>
            </a:r>
            <a:br>
              <a:rPr lang="en-GB" sz="1100" b="0" i="0" u="none" strike="noStrike" cap="none">
                <a:solidFill>
                  <a:srgbClr val="FFFFFF"/>
                </a:solidFill>
                <a:latin typeface="Georgia"/>
                <a:ea typeface="Georgia"/>
                <a:cs typeface="Georgia"/>
                <a:sym typeface="Georgia"/>
              </a:rPr>
            </a:br>
            <a:r>
              <a:rPr lang="en-GB" sz="1100" b="0" i="0" u="none" strike="noStrike" cap="none">
                <a:solidFill>
                  <a:srgbClr val="FFFFFF"/>
                </a:solidFill>
                <a:latin typeface="Georgia"/>
                <a:ea typeface="Georgia"/>
                <a:cs typeface="Georgia"/>
                <a:sym typeface="Georgia"/>
              </a:rPr>
              <a:t>Social Responsibility | Pursuit of Excellence</a:t>
            </a:r>
            <a:endParaRPr sz="11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12"/>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2"/>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lvl="0" indent="-368300" algn="l">
              <a:lnSpc>
                <a:spcPct val="100000"/>
              </a:lnSpc>
              <a:spcBef>
                <a:spcPts val="0"/>
              </a:spcBef>
              <a:spcAft>
                <a:spcPts val="0"/>
              </a:spcAft>
              <a:buSzPts val="22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23" name="Google Shape;23;p1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4" name="Google Shape;24;p12"/>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12"/>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26" name="Google Shape;26;p1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3"/>
          <p:cNvSpPr txBox="1">
            <a:spLocks noGrp="1"/>
          </p:cNvSpPr>
          <p:nvPr>
            <p:ph type="title"/>
          </p:nvPr>
        </p:nvSpPr>
        <p:spPr>
          <a:xfrm>
            <a:off x="311700" y="2867800"/>
            <a:ext cx="8520600" cy="1122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1" name="Google Shape;31;p13"/>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2" name="Google Shape;32;p13"/>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13"/>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34" name="Google Shape;34;p13"/>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1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14"/>
          <p:cNvSpPr txBox="1">
            <a:spLocks noGrp="1"/>
          </p:cNvSpPr>
          <p:nvPr>
            <p:ph type="body" idx="1"/>
          </p:nvPr>
        </p:nvSpPr>
        <p:spPr>
          <a:xfrm>
            <a:off x="311700" y="1536633"/>
            <a:ext cx="39999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04800" algn="l">
              <a:lnSpc>
                <a:spcPct val="100000"/>
              </a:lnSpc>
              <a:spcBef>
                <a:spcPts val="600"/>
              </a:spcBef>
              <a:spcAft>
                <a:spcPts val="0"/>
              </a:spcAft>
              <a:buSzPts val="1200"/>
              <a:buChar char="○"/>
              <a:defRPr sz="1200"/>
            </a:lvl2pPr>
            <a:lvl3pPr marL="1371600" lvl="2" indent="-304800" algn="l">
              <a:lnSpc>
                <a:spcPct val="100000"/>
              </a:lnSpc>
              <a:spcBef>
                <a:spcPts val="600"/>
              </a:spcBef>
              <a:spcAft>
                <a:spcPts val="0"/>
              </a:spcAft>
              <a:buSzPts val="1200"/>
              <a:buChar char="■"/>
              <a:defRPr sz="1200"/>
            </a:lvl3pPr>
            <a:lvl4pPr marL="1828800" lvl="3" indent="-304800" algn="l">
              <a:lnSpc>
                <a:spcPct val="100000"/>
              </a:lnSpc>
              <a:spcBef>
                <a:spcPts val="600"/>
              </a:spcBef>
              <a:spcAft>
                <a:spcPts val="0"/>
              </a:spcAft>
              <a:buSzPts val="1200"/>
              <a:buChar char="●"/>
              <a:defRPr sz="1200"/>
            </a:lvl4pPr>
            <a:lvl5pPr marL="2286000" lvl="4" indent="-304800" algn="l">
              <a:lnSpc>
                <a:spcPct val="100000"/>
              </a:lnSpc>
              <a:spcBef>
                <a:spcPts val="600"/>
              </a:spcBef>
              <a:spcAft>
                <a:spcPts val="0"/>
              </a:spcAft>
              <a:buSzPts val="1200"/>
              <a:buChar char="○"/>
              <a:defRPr sz="1200"/>
            </a:lvl5pPr>
            <a:lvl6pPr marL="2743200" lvl="5" indent="-304800" algn="l">
              <a:lnSpc>
                <a:spcPct val="100000"/>
              </a:lnSpc>
              <a:spcBef>
                <a:spcPts val="600"/>
              </a:spcBef>
              <a:spcAft>
                <a:spcPts val="0"/>
              </a:spcAft>
              <a:buSzPts val="1200"/>
              <a:buChar char="■"/>
              <a:defRPr sz="1200"/>
            </a:lvl6pPr>
            <a:lvl7pPr marL="3200400" lvl="6" indent="-304800" algn="l">
              <a:lnSpc>
                <a:spcPct val="100000"/>
              </a:lnSpc>
              <a:spcBef>
                <a:spcPts val="600"/>
              </a:spcBef>
              <a:spcAft>
                <a:spcPts val="0"/>
              </a:spcAft>
              <a:buSzPts val="1200"/>
              <a:buChar char="●"/>
              <a:defRPr sz="1200"/>
            </a:lvl7pPr>
            <a:lvl8pPr marL="3657600" lvl="7" indent="-304800" algn="l">
              <a:lnSpc>
                <a:spcPct val="100000"/>
              </a:lnSpc>
              <a:spcBef>
                <a:spcPts val="600"/>
              </a:spcBef>
              <a:spcAft>
                <a:spcPts val="0"/>
              </a:spcAft>
              <a:buSzPts val="1200"/>
              <a:buChar char="○"/>
              <a:defRPr sz="1200"/>
            </a:lvl8pPr>
            <a:lvl9pPr marL="4114800" lvl="8" indent="-304800" algn="l">
              <a:lnSpc>
                <a:spcPct val="100000"/>
              </a:lnSpc>
              <a:spcBef>
                <a:spcPts val="600"/>
              </a:spcBef>
              <a:spcAft>
                <a:spcPts val="600"/>
              </a:spcAft>
              <a:buSzPts val="1200"/>
              <a:buChar char="■"/>
              <a:defRPr sz="1200"/>
            </a:lvl9pPr>
          </a:lstStyle>
          <a:p>
            <a:endParaRPr/>
          </a:p>
        </p:txBody>
      </p:sp>
      <p:sp>
        <p:nvSpPr>
          <p:cNvPr id="40" name="Google Shape;40;p14"/>
          <p:cNvSpPr txBox="1">
            <a:spLocks noGrp="1"/>
          </p:cNvSpPr>
          <p:nvPr>
            <p:ph type="body" idx="2"/>
          </p:nvPr>
        </p:nvSpPr>
        <p:spPr>
          <a:xfrm>
            <a:off x="4832399" y="1536633"/>
            <a:ext cx="39999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400"/>
            </a:lvl1pPr>
            <a:lvl2pPr marL="914400" lvl="1" indent="-304800" algn="l">
              <a:lnSpc>
                <a:spcPct val="100000"/>
              </a:lnSpc>
              <a:spcBef>
                <a:spcPts val="600"/>
              </a:spcBef>
              <a:spcAft>
                <a:spcPts val="0"/>
              </a:spcAft>
              <a:buSzPts val="1200"/>
              <a:buChar char="○"/>
              <a:defRPr sz="1200"/>
            </a:lvl2pPr>
            <a:lvl3pPr marL="1371600" lvl="2" indent="-304800" algn="l">
              <a:lnSpc>
                <a:spcPct val="100000"/>
              </a:lnSpc>
              <a:spcBef>
                <a:spcPts val="600"/>
              </a:spcBef>
              <a:spcAft>
                <a:spcPts val="0"/>
              </a:spcAft>
              <a:buSzPts val="1200"/>
              <a:buChar char="■"/>
              <a:defRPr sz="1200"/>
            </a:lvl3pPr>
            <a:lvl4pPr marL="1828800" lvl="3" indent="-304800" algn="l">
              <a:lnSpc>
                <a:spcPct val="100000"/>
              </a:lnSpc>
              <a:spcBef>
                <a:spcPts val="600"/>
              </a:spcBef>
              <a:spcAft>
                <a:spcPts val="0"/>
              </a:spcAft>
              <a:buSzPts val="1200"/>
              <a:buChar char="●"/>
              <a:defRPr sz="1200"/>
            </a:lvl4pPr>
            <a:lvl5pPr marL="2286000" lvl="4" indent="-304800" algn="l">
              <a:lnSpc>
                <a:spcPct val="100000"/>
              </a:lnSpc>
              <a:spcBef>
                <a:spcPts val="600"/>
              </a:spcBef>
              <a:spcAft>
                <a:spcPts val="0"/>
              </a:spcAft>
              <a:buSzPts val="1200"/>
              <a:buChar char="○"/>
              <a:defRPr sz="1200"/>
            </a:lvl5pPr>
            <a:lvl6pPr marL="2743200" lvl="5" indent="-304800" algn="l">
              <a:lnSpc>
                <a:spcPct val="100000"/>
              </a:lnSpc>
              <a:spcBef>
                <a:spcPts val="600"/>
              </a:spcBef>
              <a:spcAft>
                <a:spcPts val="0"/>
              </a:spcAft>
              <a:buSzPts val="1200"/>
              <a:buChar char="■"/>
              <a:defRPr sz="1200"/>
            </a:lvl6pPr>
            <a:lvl7pPr marL="3200400" lvl="6" indent="-304800" algn="l">
              <a:lnSpc>
                <a:spcPct val="100000"/>
              </a:lnSpc>
              <a:spcBef>
                <a:spcPts val="600"/>
              </a:spcBef>
              <a:spcAft>
                <a:spcPts val="0"/>
              </a:spcAft>
              <a:buSzPts val="1200"/>
              <a:buChar char="●"/>
              <a:defRPr sz="1200"/>
            </a:lvl7pPr>
            <a:lvl8pPr marL="3657600" lvl="7" indent="-304800" algn="l">
              <a:lnSpc>
                <a:spcPct val="100000"/>
              </a:lnSpc>
              <a:spcBef>
                <a:spcPts val="600"/>
              </a:spcBef>
              <a:spcAft>
                <a:spcPts val="0"/>
              </a:spcAft>
              <a:buSzPts val="1200"/>
              <a:buChar char="○"/>
              <a:defRPr sz="1200"/>
            </a:lvl8pPr>
            <a:lvl9pPr marL="4114800" lvl="8" indent="-304800" algn="l">
              <a:lnSpc>
                <a:spcPct val="100000"/>
              </a:lnSpc>
              <a:spcBef>
                <a:spcPts val="600"/>
              </a:spcBef>
              <a:spcAft>
                <a:spcPts val="600"/>
              </a:spcAft>
              <a:buSzPts val="1200"/>
              <a:buChar char="■"/>
              <a:defRPr sz="1200"/>
            </a:lvl9pPr>
          </a:lstStyle>
          <a:p>
            <a:endParaRPr/>
          </a:p>
        </p:txBody>
      </p:sp>
      <p:sp>
        <p:nvSpPr>
          <p:cNvPr id="41" name="Google Shape;41;p14"/>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2" name="Google Shape;42;p14"/>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14"/>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44" name="Google Shape;44;p1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4"/>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1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15"/>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9" name="Google Shape;49;p1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0" name="Google Shape;50;p15"/>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15"/>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52" name="Google Shape;52;p1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1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5"/>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Google Shape;56;p16"/>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7" name="Google Shape;57;p16"/>
          <p:cNvSpPr txBox="1">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Char char="●"/>
              <a:defRPr sz="1200"/>
            </a:lvl1pPr>
            <a:lvl2pPr marL="914400" lvl="1" indent="-304800" algn="l">
              <a:lnSpc>
                <a:spcPct val="100000"/>
              </a:lnSpc>
              <a:spcBef>
                <a:spcPts val="600"/>
              </a:spcBef>
              <a:spcAft>
                <a:spcPts val="0"/>
              </a:spcAft>
              <a:buSzPts val="1200"/>
              <a:buChar char="○"/>
              <a:defRPr sz="1200"/>
            </a:lvl2pPr>
            <a:lvl3pPr marL="1371600" lvl="2" indent="-304800" algn="l">
              <a:lnSpc>
                <a:spcPct val="100000"/>
              </a:lnSpc>
              <a:spcBef>
                <a:spcPts val="600"/>
              </a:spcBef>
              <a:spcAft>
                <a:spcPts val="0"/>
              </a:spcAft>
              <a:buSzPts val="1200"/>
              <a:buChar char="■"/>
              <a:defRPr sz="1200"/>
            </a:lvl3pPr>
            <a:lvl4pPr marL="1828800" lvl="3" indent="-304800" algn="l">
              <a:lnSpc>
                <a:spcPct val="100000"/>
              </a:lnSpc>
              <a:spcBef>
                <a:spcPts val="600"/>
              </a:spcBef>
              <a:spcAft>
                <a:spcPts val="0"/>
              </a:spcAft>
              <a:buSzPts val="1200"/>
              <a:buChar char="●"/>
              <a:defRPr sz="1200"/>
            </a:lvl4pPr>
            <a:lvl5pPr marL="2286000" lvl="4" indent="-304800" algn="l">
              <a:lnSpc>
                <a:spcPct val="100000"/>
              </a:lnSpc>
              <a:spcBef>
                <a:spcPts val="600"/>
              </a:spcBef>
              <a:spcAft>
                <a:spcPts val="0"/>
              </a:spcAft>
              <a:buSzPts val="1200"/>
              <a:buChar char="○"/>
              <a:defRPr sz="1200"/>
            </a:lvl5pPr>
            <a:lvl6pPr marL="2743200" lvl="5" indent="-304800" algn="l">
              <a:lnSpc>
                <a:spcPct val="100000"/>
              </a:lnSpc>
              <a:spcBef>
                <a:spcPts val="600"/>
              </a:spcBef>
              <a:spcAft>
                <a:spcPts val="0"/>
              </a:spcAft>
              <a:buSzPts val="1200"/>
              <a:buChar char="■"/>
              <a:defRPr sz="1200"/>
            </a:lvl6pPr>
            <a:lvl7pPr marL="3200400" lvl="6" indent="-304800" algn="l">
              <a:lnSpc>
                <a:spcPct val="100000"/>
              </a:lnSpc>
              <a:spcBef>
                <a:spcPts val="600"/>
              </a:spcBef>
              <a:spcAft>
                <a:spcPts val="0"/>
              </a:spcAft>
              <a:buSzPts val="1200"/>
              <a:buChar char="●"/>
              <a:defRPr sz="1200"/>
            </a:lvl7pPr>
            <a:lvl8pPr marL="3657600" lvl="7" indent="-304800" algn="l">
              <a:lnSpc>
                <a:spcPct val="100000"/>
              </a:lnSpc>
              <a:spcBef>
                <a:spcPts val="600"/>
              </a:spcBef>
              <a:spcAft>
                <a:spcPts val="0"/>
              </a:spcAft>
              <a:buSzPts val="1200"/>
              <a:buChar char="○"/>
              <a:defRPr sz="1200"/>
            </a:lvl8pPr>
            <a:lvl9pPr marL="4114800" lvl="8" indent="-304800" algn="l">
              <a:lnSpc>
                <a:spcPct val="100000"/>
              </a:lnSpc>
              <a:spcBef>
                <a:spcPts val="600"/>
              </a:spcBef>
              <a:spcAft>
                <a:spcPts val="600"/>
              </a:spcAft>
              <a:buSzPts val="1200"/>
              <a:buChar char="■"/>
              <a:defRPr sz="1200"/>
            </a:lvl9pPr>
          </a:lstStyle>
          <a:p>
            <a:endParaRPr/>
          </a:p>
        </p:txBody>
      </p:sp>
      <p:sp>
        <p:nvSpPr>
          <p:cNvPr id="58" name="Google Shape;58;p1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9" name="Google Shape;59;p16"/>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16"/>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61" name="Google Shape;61;p16"/>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6"/>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Google Shape;65;p17"/>
          <p:cNvSpPr txBox="1">
            <a:spLocks noGrp="1"/>
          </p:cNvSpPr>
          <p:nvPr>
            <p:ph type="title"/>
          </p:nvPr>
        </p:nvSpPr>
        <p:spPr>
          <a:xfrm>
            <a:off x="490250" y="600200"/>
            <a:ext cx="63678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6" name="Google Shape;66;p1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7" name="Google Shape;67;p17"/>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17"/>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69" name="Google Shape;69;p1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17"/>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17"/>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Google Shape;73;p18"/>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8"/>
          <p:cNvSpPr txBox="1">
            <a:spLocks noGrp="1"/>
          </p:cNvSpPr>
          <p:nvPr>
            <p:ph type="title"/>
          </p:nvPr>
        </p:nvSpPr>
        <p:spPr>
          <a:xfrm>
            <a:off x="265500" y="1644233"/>
            <a:ext cx="4045199"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5" name="Google Shape;75;p18"/>
          <p:cNvSpPr txBox="1">
            <a:spLocks noGrp="1"/>
          </p:cNvSpPr>
          <p:nvPr>
            <p:ph type="subTitle" idx="1"/>
          </p:nvPr>
        </p:nvSpPr>
        <p:spPr>
          <a:xfrm>
            <a:off x="265500" y="3737433"/>
            <a:ext cx="4045199" cy="1646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Google Shape;76;p18"/>
          <p:cNvSpPr txBox="1">
            <a:spLocks noGrp="1"/>
          </p:cNvSpPr>
          <p:nvPr>
            <p:ph type="body" idx="2"/>
          </p:nvPr>
        </p:nvSpPr>
        <p:spPr>
          <a:xfrm>
            <a:off x="4939500" y="965433"/>
            <a:ext cx="3837000" cy="4926899"/>
          </a:xfrm>
          <a:prstGeom prst="rect">
            <a:avLst/>
          </a:prstGeom>
          <a:noFill/>
          <a:ln>
            <a:noFill/>
          </a:ln>
        </p:spPr>
        <p:txBody>
          <a:bodyPr spcFirstLastPara="1" wrap="square" lIns="91425" tIns="91425" rIns="91425" bIns="91425" anchor="ctr" anchorCtr="0">
            <a:noAutofit/>
          </a:bodyPr>
          <a:lstStyle>
            <a:lvl1pPr marL="457200" lvl="0" indent="-368300" algn="l">
              <a:lnSpc>
                <a:spcPct val="100000"/>
              </a:lnSpc>
              <a:spcBef>
                <a:spcPts val="0"/>
              </a:spcBef>
              <a:spcAft>
                <a:spcPts val="0"/>
              </a:spcAft>
              <a:buSzPts val="22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600"/>
              </a:spcAft>
              <a:buSzPts val="1800"/>
              <a:buChar char="■"/>
              <a:defRPr/>
            </a:lvl9pPr>
          </a:lstStyle>
          <a:p>
            <a:endParaRPr/>
          </a:p>
        </p:txBody>
      </p:sp>
      <p:sp>
        <p:nvSpPr>
          <p:cNvPr id="77" name="Google Shape;77;p1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8" name="Google Shape;78;p18"/>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8"/>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80" name="Google Shape;80;p1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8"/>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19"/>
          <p:cNvSpPr txBox="1">
            <a:spLocks noGrp="1"/>
          </p:cNvSpPr>
          <p:nvPr>
            <p:ph type="body" idx="1"/>
          </p:nvPr>
        </p:nvSpPr>
        <p:spPr>
          <a:xfrm>
            <a:off x="311700" y="5640767"/>
            <a:ext cx="5998800" cy="806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200"/>
              <a:buNone/>
              <a:defRPr/>
            </a:lvl1pPr>
          </a:lstStyle>
          <a:p>
            <a:endParaRPr/>
          </a:p>
        </p:txBody>
      </p:sp>
      <p:sp>
        <p:nvSpPr>
          <p:cNvPr id="85" name="Google Shape;85;p1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86" name="Google Shape;86;p19"/>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9"/>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88" name="Google Shape;88;p1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311700" y="1474833"/>
            <a:ext cx="8520600" cy="2618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93" name="Google Shape;93;p20"/>
          <p:cNvSpPr txBox="1">
            <a:spLocks noGrp="1"/>
          </p:cNvSpPr>
          <p:nvPr>
            <p:ph type="body" idx="1"/>
          </p:nvPr>
        </p:nvSpPr>
        <p:spPr>
          <a:xfrm>
            <a:off x="311700" y="4202967"/>
            <a:ext cx="8520600" cy="1734300"/>
          </a:xfrm>
          <a:prstGeom prst="rect">
            <a:avLst/>
          </a:prstGeom>
          <a:noFill/>
          <a:ln>
            <a:noFill/>
          </a:ln>
        </p:spPr>
        <p:txBody>
          <a:bodyPr spcFirstLastPara="1" wrap="square" lIns="91425" tIns="91425" rIns="91425" bIns="91425" anchor="t" anchorCtr="0">
            <a:noAutofit/>
          </a:bodyPr>
          <a:lstStyle>
            <a:lvl1pPr marL="457200" lvl="0" indent="-368300" algn="ctr">
              <a:lnSpc>
                <a:spcPct val="100000"/>
              </a:lnSpc>
              <a:spcBef>
                <a:spcPts val="0"/>
              </a:spcBef>
              <a:spcAft>
                <a:spcPts val="0"/>
              </a:spcAft>
              <a:buSzPts val="2200"/>
              <a:buChar char="●"/>
              <a:defRPr/>
            </a:lvl1pPr>
            <a:lvl2pPr marL="914400" lvl="1" indent="-342900" algn="ctr">
              <a:lnSpc>
                <a:spcPct val="100000"/>
              </a:lnSpc>
              <a:spcBef>
                <a:spcPts val="600"/>
              </a:spcBef>
              <a:spcAft>
                <a:spcPts val="0"/>
              </a:spcAft>
              <a:buSzPts val="1800"/>
              <a:buChar char="○"/>
              <a:defRPr/>
            </a:lvl2pPr>
            <a:lvl3pPr marL="1371600" lvl="2" indent="-342900" algn="ctr">
              <a:lnSpc>
                <a:spcPct val="100000"/>
              </a:lnSpc>
              <a:spcBef>
                <a:spcPts val="600"/>
              </a:spcBef>
              <a:spcAft>
                <a:spcPts val="0"/>
              </a:spcAft>
              <a:buSzPts val="1800"/>
              <a:buChar char="■"/>
              <a:defRPr/>
            </a:lvl3pPr>
            <a:lvl4pPr marL="1828800" lvl="3" indent="-342900" algn="ctr">
              <a:lnSpc>
                <a:spcPct val="100000"/>
              </a:lnSpc>
              <a:spcBef>
                <a:spcPts val="600"/>
              </a:spcBef>
              <a:spcAft>
                <a:spcPts val="0"/>
              </a:spcAft>
              <a:buSzPts val="1800"/>
              <a:buChar char="●"/>
              <a:defRPr/>
            </a:lvl4pPr>
            <a:lvl5pPr marL="2286000" lvl="4" indent="-342900" algn="ctr">
              <a:lnSpc>
                <a:spcPct val="100000"/>
              </a:lnSpc>
              <a:spcBef>
                <a:spcPts val="600"/>
              </a:spcBef>
              <a:spcAft>
                <a:spcPts val="0"/>
              </a:spcAft>
              <a:buSzPts val="1800"/>
              <a:buChar char="○"/>
              <a:defRPr/>
            </a:lvl5pPr>
            <a:lvl6pPr marL="2743200" lvl="5" indent="-342900" algn="ctr">
              <a:lnSpc>
                <a:spcPct val="100000"/>
              </a:lnSpc>
              <a:spcBef>
                <a:spcPts val="600"/>
              </a:spcBef>
              <a:spcAft>
                <a:spcPts val="0"/>
              </a:spcAft>
              <a:buSzPts val="1800"/>
              <a:buChar char="■"/>
              <a:defRPr/>
            </a:lvl6pPr>
            <a:lvl7pPr marL="3200400" lvl="6" indent="-342900" algn="ctr">
              <a:lnSpc>
                <a:spcPct val="100000"/>
              </a:lnSpc>
              <a:spcBef>
                <a:spcPts val="600"/>
              </a:spcBef>
              <a:spcAft>
                <a:spcPts val="0"/>
              </a:spcAft>
              <a:buSzPts val="1800"/>
              <a:buChar char="●"/>
              <a:defRPr/>
            </a:lvl7pPr>
            <a:lvl8pPr marL="3657600" lvl="7" indent="-342900" algn="ctr">
              <a:lnSpc>
                <a:spcPct val="100000"/>
              </a:lnSpc>
              <a:spcBef>
                <a:spcPts val="600"/>
              </a:spcBef>
              <a:spcAft>
                <a:spcPts val="0"/>
              </a:spcAft>
              <a:buSzPts val="1800"/>
              <a:buChar char="○"/>
              <a:defRPr/>
            </a:lvl8pPr>
            <a:lvl9pPr marL="4114800" lvl="8" indent="-342900" algn="ctr">
              <a:lnSpc>
                <a:spcPct val="100000"/>
              </a:lnSpc>
              <a:spcBef>
                <a:spcPts val="600"/>
              </a:spcBef>
              <a:spcAft>
                <a:spcPts val="600"/>
              </a:spcAft>
              <a:buSzPts val="1800"/>
              <a:buChar char="■"/>
              <a:defRPr/>
            </a:lvl9pPr>
          </a:lstStyle>
          <a:p>
            <a:endParaRPr/>
          </a:p>
        </p:txBody>
      </p:sp>
      <p:sp>
        <p:nvSpPr>
          <p:cNvPr id="94" name="Google Shape;94;p2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95" name="Google Shape;95;p20"/>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20"/>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97" name="Google Shape;97;p2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2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02" name="Google Shape;102;p21"/>
          <p:cNvSpPr/>
          <p:nvPr/>
        </p:nvSpPr>
        <p:spPr>
          <a:xfrm>
            <a:off x="-11025" y="6347774"/>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21"/>
          <p:cNvSpPr txBox="1"/>
          <p:nvPr/>
        </p:nvSpPr>
        <p:spPr>
          <a:xfrm>
            <a:off x="3343199"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04" name="Google Shape;104;p2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400" b="0" i="0" u="none" strike="noStrike" cap="none">
                <a:solidFill>
                  <a:srgbClr val="FFFFFF"/>
                </a:solidFill>
                <a:latin typeface="Georgia"/>
                <a:ea typeface="Georgia"/>
                <a:cs typeface="Georgia"/>
                <a:sym typeface="Georgia"/>
              </a:rPr>
              <a:t>CHRIST</a:t>
            </a:r>
            <a:br>
              <a:rPr lang="en-GB" sz="1400" b="0" i="0" u="none" strike="noStrike" cap="none">
                <a:solidFill>
                  <a:srgbClr val="FFFFFF"/>
                </a:solidFill>
                <a:latin typeface="Georgia"/>
                <a:ea typeface="Georgia"/>
                <a:cs typeface="Georgia"/>
                <a:sym typeface="Georgia"/>
              </a:rPr>
            </a:br>
            <a:r>
              <a:rPr lang="en-GB"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7" name="Google Shape;7;p10"/>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8" name="Google Shape;8;p1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63/5.0101139"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doi.org/10.1109/AIDE64228.2025.10987522" TargetMode="External"/><Relationship Id="rId5" Type="http://schemas.openxmlformats.org/officeDocument/2006/relationships/hyperlink" Target="https://doi.org/10.37396/jsc.v7i1.390" TargetMode="External"/><Relationship Id="rId4" Type="http://schemas.openxmlformats.org/officeDocument/2006/relationships/hyperlink" Target="https://doi.org/10.1109/IDCIoT56793.2023.1005350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xfrm>
            <a:off x="71100" y="1209623"/>
            <a:ext cx="9072900" cy="21579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GB" sz="2600" dirty="0">
                <a:solidFill>
                  <a:schemeClr val="dk1"/>
                </a:solidFill>
                <a:latin typeface="Times New Roman" panose="02020603050405020304" pitchFamily="18" charset="0"/>
                <a:ea typeface="Arial"/>
                <a:cs typeface="Times New Roman" panose="02020603050405020304" pitchFamily="18" charset="0"/>
                <a:sym typeface="Arial"/>
              </a:rPr>
              <a:t> EC 871 Project Work</a:t>
            </a:r>
            <a:endParaRPr sz="2600" dirty="0">
              <a:solidFill>
                <a:schemeClr val="dk1"/>
              </a:solidFill>
              <a:latin typeface="Times New Roman" panose="02020603050405020304" pitchFamily="18" charset="0"/>
              <a:ea typeface="Arial"/>
              <a:cs typeface="Times New Roman" panose="02020603050405020304" pitchFamily="18" charset="0"/>
              <a:sym typeface="Arial"/>
            </a:endParaRPr>
          </a:p>
          <a:p>
            <a:pPr marL="0" lvl="0" indent="0" algn="ctr" rtl="0">
              <a:lnSpc>
                <a:spcPct val="100000"/>
              </a:lnSpc>
              <a:spcBef>
                <a:spcPts val="0"/>
              </a:spcBef>
              <a:spcAft>
                <a:spcPts val="0"/>
              </a:spcAft>
              <a:buSzPts val="3600"/>
              <a:buNone/>
            </a:pPr>
            <a:r>
              <a:rPr lang="en-GB" sz="2400" dirty="0">
                <a:solidFill>
                  <a:schemeClr val="dk1"/>
                </a:solidFill>
                <a:latin typeface="Times New Roman" panose="02020603050405020304" pitchFamily="18" charset="0"/>
                <a:ea typeface="Arial"/>
                <a:cs typeface="Times New Roman" panose="02020603050405020304" pitchFamily="18" charset="0"/>
                <a:sym typeface="Arial"/>
              </a:rPr>
              <a:t>NBA File Locker System </a:t>
            </a:r>
            <a:br>
              <a:rPr lang="en-GB" sz="2400" dirty="0">
                <a:solidFill>
                  <a:schemeClr val="dk1"/>
                </a:solidFill>
                <a:latin typeface="Times New Roman" panose="02020603050405020304" pitchFamily="18" charset="0"/>
                <a:ea typeface="Arial"/>
                <a:cs typeface="Times New Roman" panose="02020603050405020304" pitchFamily="18" charset="0"/>
                <a:sym typeface="Arial"/>
              </a:rPr>
            </a:br>
            <a:endParaRPr sz="2400" dirty="0">
              <a:solidFill>
                <a:schemeClr val="dk1"/>
              </a:solidFill>
              <a:latin typeface="Times New Roman" panose="02020603050405020304" pitchFamily="18" charset="0"/>
              <a:ea typeface="Arial"/>
              <a:cs typeface="Times New Roman" panose="02020603050405020304" pitchFamily="18" charset="0"/>
              <a:sym typeface="Arial"/>
            </a:endParaRPr>
          </a:p>
          <a:p>
            <a:pPr marL="0" lvl="0" indent="0" algn="ctr" rtl="0">
              <a:spcBef>
                <a:spcPts val="0"/>
              </a:spcBef>
              <a:spcAft>
                <a:spcPts val="0"/>
              </a:spcAft>
              <a:buClr>
                <a:schemeClr val="dk1"/>
              </a:buClr>
              <a:buSzPts val="1100"/>
              <a:buFont typeface="Arial"/>
              <a:buNone/>
            </a:pPr>
            <a:r>
              <a:rPr lang="en-GB" sz="2000" dirty="0">
                <a:solidFill>
                  <a:schemeClr val="dk1"/>
                </a:solidFill>
                <a:latin typeface="Times New Roman" panose="02020603050405020304" pitchFamily="18" charset="0"/>
                <a:ea typeface="Arial"/>
                <a:cs typeface="Times New Roman" panose="02020603050405020304" pitchFamily="18" charset="0"/>
                <a:sym typeface="Arial"/>
              </a:rPr>
              <a:t>Group Number:10</a:t>
            </a:r>
            <a:endParaRPr sz="2000" dirty="0">
              <a:solidFill>
                <a:schemeClr val="dk1"/>
              </a:solidFill>
              <a:latin typeface="Times New Roman" panose="02020603050405020304" pitchFamily="18" charset="0"/>
              <a:ea typeface="Arial"/>
              <a:cs typeface="Times New Roman" panose="02020603050405020304" pitchFamily="18" charset="0"/>
              <a:sym typeface="Arial"/>
            </a:endParaRPr>
          </a:p>
          <a:p>
            <a:pPr marL="0" lvl="0" indent="0" algn="ctr" rtl="0">
              <a:lnSpc>
                <a:spcPct val="100000"/>
              </a:lnSpc>
              <a:spcBef>
                <a:spcPts val="0"/>
              </a:spcBef>
              <a:spcAft>
                <a:spcPts val="0"/>
              </a:spcAft>
              <a:buSzPts val="3600"/>
              <a:buNone/>
            </a:pPr>
            <a:r>
              <a:rPr lang="en-GB" sz="2400" dirty="0">
                <a:solidFill>
                  <a:schemeClr val="dk1"/>
                </a:solidFill>
                <a:latin typeface="Times New Roman" panose="02020603050405020304" pitchFamily="18" charset="0"/>
                <a:ea typeface="Arial"/>
                <a:cs typeface="Times New Roman" panose="02020603050405020304" pitchFamily="18" charset="0"/>
                <a:sym typeface="Arial"/>
              </a:rPr>
              <a:t>Project phase ॥- Final Review</a:t>
            </a:r>
            <a:endParaRPr sz="24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112" name="Google Shape;112;p1"/>
          <p:cNvSpPr txBox="1">
            <a:spLocks noGrp="1"/>
          </p:cNvSpPr>
          <p:nvPr>
            <p:ph type="subTitle" idx="1"/>
          </p:nvPr>
        </p:nvSpPr>
        <p:spPr>
          <a:xfrm>
            <a:off x="0" y="3970525"/>
            <a:ext cx="3177600" cy="190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GB" sz="2000" b="1" dirty="0">
                <a:solidFill>
                  <a:schemeClr val="dk1"/>
                </a:solidFill>
                <a:latin typeface="Times New Roman"/>
                <a:ea typeface="Times New Roman"/>
                <a:cs typeface="Times New Roman"/>
                <a:sym typeface="Times New Roman"/>
              </a:rPr>
              <a:t>  Presented By:</a:t>
            </a:r>
            <a:endParaRPr sz="20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1600" b="1" dirty="0">
                <a:solidFill>
                  <a:schemeClr val="dk1"/>
                </a:solidFill>
                <a:latin typeface="Times New Roman"/>
                <a:ea typeface="Times New Roman"/>
                <a:cs typeface="Times New Roman"/>
                <a:sym typeface="Times New Roman"/>
              </a:rPr>
              <a:t>   Challa AbhinayaSree-2260609</a:t>
            </a:r>
            <a:endParaRPr sz="16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1600" b="1" dirty="0">
                <a:solidFill>
                  <a:schemeClr val="dk1"/>
                </a:solidFill>
                <a:latin typeface="Times New Roman"/>
                <a:ea typeface="Times New Roman"/>
                <a:cs typeface="Times New Roman"/>
                <a:sym typeface="Times New Roman"/>
              </a:rPr>
              <a:t>   </a:t>
            </a:r>
            <a:r>
              <a:rPr lang="en-GB" sz="1600" b="1" dirty="0" err="1">
                <a:solidFill>
                  <a:schemeClr val="dk1"/>
                </a:solidFill>
                <a:latin typeface="Times New Roman"/>
                <a:ea typeface="Times New Roman"/>
                <a:cs typeface="Times New Roman"/>
                <a:sym typeface="Times New Roman"/>
              </a:rPr>
              <a:t>Polamarasetty</a:t>
            </a:r>
            <a:r>
              <a:rPr lang="en-GB" sz="1600" b="1" dirty="0">
                <a:solidFill>
                  <a:schemeClr val="dk1"/>
                </a:solidFill>
                <a:latin typeface="Times New Roman"/>
                <a:ea typeface="Times New Roman"/>
                <a:cs typeface="Times New Roman"/>
                <a:sym typeface="Times New Roman"/>
              </a:rPr>
              <a:t> Vineela- 2260626</a:t>
            </a:r>
            <a:endParaRPr sz="16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GB" sz="1600" b="1" dirty="0">
                <a:solidFill>
                  <a:schemeClr val="dk1"/>
                </a:solidFill>
                <a:latin typeface="Times New Roman"/>
                <a:ea typeface="Times New Roman"/>
                <a:cs typeface="Times New Roman"/>
                <a:sym typeface="Times New Roman"/>
              </a:rPr>
              <a:t>   Roshani S- 2260636</a:t>
            </a:r>
            <a:endParaRPr lang="en-US" sz="16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2800"/>
              <a:buNone/>
            </a:pPr>
            <a:r>
              <a:rPr lang="en-GB" sz="1600" b="1" dirty="0">
                <a:solidFill>
                  <a:schemeClr val="dk1"/>
                </a:solidFill>
                <a:latin typeface="Times New Roman"/>
                <a:ea typeface="Times New Roman"/>
                <a:cs typeface="Times New Roman"/>
                <a:sym typeface="Times New Roman"/>
              </a:rPr>
              <a:t>   </a:t>
            </a:r>
            <a:r>
              <a:rPr lang="en-US" sz="1600" b="1" dirty="0" err="1">
                <a:solidFill>
                  <a:schemeClr val="dk1"/>
                </a:solidFill>
                <a:latin typeface="Times New Roman"/>
                <a:ea typeface="Times New Roman"/>
                <a:cs typeface="Times New Roman"/>
                <a:sym typeface="Times New Roman"/>
              </a:rPr>
              <a:t>Nandhakishore</a:t>
            </a:r>
            <a:r>
              <a:rPr lang="en-US" sz="1600" b="1" dirty="0">
                <a:solidFill>
                  <a:schemeClr val="dk1"/>
                </a:solidFill>
                <a:latin typeface="Times New Roman"/>
                <a:ea typeface="Times New Roman"/>
                <a:cs typeface="Times New Roman"/>
                <a:sym typeface="Times New Roman"/>
              </a:rPr>
              <a:t> K- 2260668</a:t>
            </a:r>
            <a:endParaRPr lang="en-US" sz="1600" b="1" i="1" dirty="0">
              <a:latin typeface="Times New Roman"/>
              <a:ea typeface="Times New Roman"/>
              <a:cs typeface="Times New Roman"/>
              <a:sym typeface="Times New Roman"/>
            </a:endParaRPr>
          </a:p>
          <a:p>
            <a:pPr marL="514350" lvl="0" indent="-336550" algn="just" rtl="0">
              <a:lnSpc>
                <a:spcPct val="150000"/>
              </a:lnSpc>
              <a:spcBef>
                <a:spcPts val="0"/>
              </a:spcBef>
              <a:spcAft>
                <a:spcPts val="0"/>
              </a:spcAft>
              <a:buSzPts val="2800"/>
              <a:buNone/>
            </a:pPr>
            <a:endParaRPr sz="2000" b="1" i="1" dirty="0"/>
          </a:p>
          <a:p>
            <a:pPr marL="514350" lvl="0" indent="-336550" algn="just" rtl="0">
              <a:lnSpc>
                <a:spcPct val="150000"/>
              </a:lnSpc>
              <a:spcBef>
                <a:spcPts val="0"/>
              </a:spcBef>
              <a:spcAft>
                <a:spcPts val="0"/>
              </a:spcAft>
              <a:buSzPts val="2800"/>
              <a:buNone/>
            </a:pPr>
            <a:endParaRPr sz="2000" b="1" i="1" dirty="0"/>
          </a:p>
        </p:txBody>
      </p:sp>
      <p:sp>
        <p:nvSpPr>
          <p:cNvPr id="113" name="Google Shape;113;p1"/>
          <p:cNvSpPr txBox="1"/>
          <p:nvPr/>
        </p:nvSpPr>
        <p:spPr>
          <a:xfrm>
            <a:off x="6057912" y="3970532"/>
            <a:ext cx="3086100" cy="23712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SzPts val="1100"/>
              <a:buFont typeface="Arial"/>
              <a:buNone/>
            </a:pPr>
            <a:r>
              <a:rPr lang="en-GB" sz="2000" b="1" dirty="0">
                <a:solidFill>
                  <a:schemeClr val="dk1"/>
                </a:solidFill>
                <a:latin typeface="Times New Roman" panose="02020603050405020304" pitchFamily="18" charset="0"/>
                <a:cs typeface="Times New Roman" panose="02020603050405020304" pitchFamily="18" charset="0"/>
              </a:rPr>
              <a:t>Guided By:</a:t>
            </a:r>
            <a:endParaRPr sz="2000" b="1" dirty="0">
              <a:solidFill>
                <a:schemeClr val="dk1"/>
              </a:solidFill>
              <a:latin typeface="Times New Roman" panose="02020603050405020304" pitchFamily="18" charset="0"/>
              <a:cs typeface="Times New Roman" panose="02020603050405020304" pitchFamily="18" charset="0"/>
            </a:endParaRPr>
          </a:p>
          <a:p>
            <a:pPr marL="0" lvl="0" indent="0" algn="just" rtl="0">
              <a:lnSpc>
                <a:spcPct val="150000"/>
              </a:lnSpc>
              <a:spcBef>
                <a:spcPts val="0"/>
              </a:spcBef>
              <a:spcAft>
                <a:spcPts val="0"/>
              </a:spcAft>
              <a:buClr>
                <a:schemeClr val="dk1"/>
              </a:buClr>
              <a:buSzPts val="1100"/>
              <a:buFont typeface="Arial"/>
              <a:buNone/>
            </a:pPr>
            <a:r>
              <a:rPr lang="en-GB" sz="1600" b="1" dirty="0">
                <a:solidFill>
                  <a:schemeClr val="dk1"/>
                </a:solidFill>
                <a:latin typeface="Times New Roman" panose="02020603050405020304" pitchFamily="18" charset="0"/>
                <a:cs typeface="Times New Roman" panose="02020603050405020304" pitchFamily="18" charset="0"/>
              </a:rPr>
              <a:t>Dr. </a:t>
            </a:r>
            <a:r>
              <a:rPr lang="en-GB" sz="1600" b="1" dirty="0" err="1">
                <a:solidFill>
                  <a:schemeClr val="dk1"/>
                </a:solidFill>
                <a:latin typeface="Times New Roman" panose="02020603050405020304" pitchFamily="18" charset="0"/>
                <a:cs typeface="Times New Roman" panose="02020603050405020304" pitchFamily="18" charset="0"/>
              </a:rPr>
              <a:t>Jesuwanth</a:t>
            </a:r>
            <a:r>
              <a:rPr lang="en-GB" sz="1600" b="1" dirty="0">
                <a:solidFill>
                  <a:schemeClr val="dk1"/>
                </a:solidFill>
                <a:latin typeface="Times New Roman" panose="02020603050405020304" pitchFamily="18" charset="0"/>
                <a:cs typeface="Times New Roman" panose="02020603050405020304" pitchFamily="18" charset="0"/>
              </a:rPr>
              <a:t> Sugesh R G</a:t>
            </a:r>
            <a:endParaRPr sz="1600" b="1" dirty="0">
              <a:solidFill>
                <a:schemeClr val="dk1"/>
              </a:solidFill>
              <a:latin typeface="Times New Roman" panose="02020603050405020304" pitchFamily="18" charset="0"/>
              <a:cs typeface="Times New Roman" panose="02020603050405020304" pitchFamily="18" charset="0"/>
            </a:endParaRPr>
          </a:p>
          <a:p>
            <a:pPr marL="0" marR="0" lvl="0" indent="0" algn="just" rtl="0">
              <a:lnSpc>
                <a:spcPct val="150000"/>
              </a:lnSpc>
              <a:spcBef>
                <a:spcPts val="0"/>
              </a:spcBef>
              <a:spcAft>
                <a:spcPts val="0"/>
              </a:spcAft>
              <a:buClr>
                <a:srgbClr val="000000"/>
              </a:buClr>
              <a:buSzPts val="2000"/>
              <a:buFont typeface="Times New Roman"/>
              <a:buNone/>
            </a:pPr>
            <a:endParaRPr sz="2000" b="1" i="1"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GB" sz="3200" i="1" dirty="0">
                <a:latin typeface="Palatino Linotype"/>
                <a:ea typeface="Palatino Linotype"/>
                <a:cs typeface="Palatino Linotype"/>
                <a:sym typeface="Palatino Linotype"/>
              </a:rPr>
              <a:t> </a:t>
            </a:r>
            <a:r>
              <a:rPr lang="en-GB" sz="3200" dirty="0">
                <a:latin typeface="Times New Roman"/>
                <a:ea typeface="Times New Roman"/>
                <a:cs typeface="Times New Roman"/>
                <a:sym typeface="Times New Roman"/>
              </a:rPr>
              <a:t>Topic</a:t>
            </a:r>
            <a:endParaRPr sz="3200" dirty="0">
              <a:latin typeface="Times New Roman"/>
              <a:ea typeface="Times New Roman"/>
              <a:cs typeface="Times New Roman"/>
              <a:sym typeface="Times New Roman"/>
            </a:endParaRPr>
          </a:p>
        </p:txBody>
      </p:sp>
      <p:sp>
        <p:nvSpPr>
          <p:cNvPr id="119" name="Google Shape;119;p3"/>
          <p:cNvSpPr txBox="1"/>
          <p:nvPr/>
        </p:nvSpPr>
        <p:spPr>
          <a:xfrm>
            <a:off x="1943629" y="2716504"/>
            <a:ext cx="4830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400" b="1" dirty="0">
                <a:solidFill>
                  <a:schemeClr val="dk1"/>
                </a:solidFill>
              </a:rPr>
              <a:t>           </a:t>
            </a:r>
            <a:r>
              <a:rPr lang="en-GB" sz="2400" b="1" dirty="0">
                <a:solidFill>
                  <a:schemeClr val="dk1"/>
                </a:solidFill>
                <a:latin typeface="Times New Roman"/>
                <a:ea typeface="Times New Roman"/>
                <a:cs typeface="Times New Roman"/>
                <a:sym typeface="Times New Roman"/>
              </a:rPr>
              <a:t>NBA File Locker System </a:t>
            </a:r>
            <a:endParaRPr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89E02-D839-C660-91D8-08AF6E44714C}"/>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DF50F53B-1D8E-E3E8-5B02-730D67E78610}"/>
              </a:ext>
            </a:extLst>
          </p:cNvPr>
          <p:cNvSpPr>
            <a:spLocks noGrp="1"/>
          </p:cNvSpPr>
          <p:nvPr>
            <p:ph type="body" idx="1"/>
          </p:nvPr>
        </p:nvSpPr>
        <p:spPr/>
        <p:txBody>
          <a:bodyPr/>
          <a:lstStyle/>
          <a:p>
            <a:r>
              <a:rPr lang="en-US" sz="1700" dirty="0">
                <a:latin typeface="Times New Roman" panose="02020603050405020304" pitchFamily="18" charset="0"/>
                <a:cs typeface="Times New Roman" panose="02020603050405020304" pitchFamily="18" charset="0"/>
              </a:rPr>
              <a:t>The NBA File Locker System is a smart security solution designed for the safe storage and monitoring of important documents. The system uses RFID technology to authenticate users and control locker access, ensuring that only authorized individuals can operate it. A Node MCU microcontroller works together with an Arduino Nano to manage system operations and process inputs from dual RFID readers, where one reader verifies users and the other detects the presence of files inside the locker. A servo motor is used to automatically lock and unlock the locker based on authentication results, while green and red LEDs provide visual feedback indicating access approval or denial. The system also includes a web dashboard that displays locker status, file presence, and access records in real time, enabling effective monitoring. Overall, the project provides a low-cost, secure, and efficient solution for document management by integrating essential hardware and software components.</a:t>
            </a:r>
          </a:p>
        </p:txBody>
      </p:sp>
      <p:sp>
        <p:nvSpPr>
          <p:cNvPr id="4" name="TextBox 3">
            <a:extLst>
              <a:ext uri="{FF2B5EF4-FFF2-40B4-BE49-F238E27FC236}">
                <a16:creationId xmlns:a16="http://schemas.microsoft.com/office/drawing/2014/main" id="{B2FB926A-B866-2BE2-782D-E69987D181F2}"/>
              </a:ext>
            </a:extLst>
          </p:cNvPr>
          <p:cNvSpPr txBox="1"/>
          <p:nvPr/>
        </p:nvSpPr>
        <p:spPr>
          <a:xfrm>
            <a:off x="4433012" y="5784056"/>
            <a:ext cx="497433" cy="307777"/>
          </a:xfrm>
          <a:prstGeom prst="rect">
            <a:avLst/>
          </a:prstGeom>
          <a:noFill/>
        </p:spPr>
        <p:txBody>
          <a:bodyPr wrap="square" rtlCol="0">
            <a:spAutoFit/>
          </a:bodyPr>
          <a:lstStyle/>
          <a:p>
            <a:r>
              <a:rPr lang="en-US" dirty="0"/>
              <a:t>3</a:t>
            </a:r>
          </a:p>
        </p:txBody>
      </p:sp>
    </p:spTree>
    <p:extLst>
      <p:ext uri="{BB962C8B-B14F-4D97-AF65-F5344CB8AC3E}">
        <p14:creationId xmlns:p14="http://schemas.microsoft.com/office/powerpoint/2010/main" val="3452414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GB" sz="3200">
                <a:latin typeface="Times New Roman"/>
                <a:ea typeface="Times New Roman"/>
                <a:cs typeface="Times New Roman"/>
                <a:sym typeface="Times New Roman"/>
              </a:rPr>
              <a:t>Objectives</a:t>
            </a:r>
            <a:endParaRPr sz="3200">
              <a:latin typeface="Times New Roman"/>
              <a:ea typeface="Times New Roman"/>
              <a:cs typeface="Times New Roman"/>
              <a:sym typeface="Times New Roman"/>
            </a:endParaRPr>
          </a:p>
        </p:txBody>
      </p:sp>
      <p:sp>
        <p:nvSpPr>
          <p:cNvPr id="126" name="Google Shape;126;p4"/>
          <p:cNvSpPr txBox="1"/>
          <p:nvPr/>
        </p:nvSpPr>
        <p:spPr>
          <a:xfrm>
            <a:off x="2738975" y="482600"/>
            <a:ext cx="64176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200" dirty="0">
                <a:latin typeface="Archivo Narrow"/>
                <a:ea typeface="Archivo Narrow"/>
                <a:cs typeface="Archivo Narrow"/>
                <a:sym typeface="Archivo Narrow"/>
              </a:rPr>
              <a:t>`</a:t>
            </a:r>
            <a:endParaRPr sz="2200" dirty="0">
              <a:latin typeface="Archivo Narrow"/>
              <a:ea typeface="Archivo Narrow"/>
              <a:cs typeface="Archivo Narrow"/>
              <a:sym typeface="Archivo Narrow"/>
            </a:endParaRPr>
          </a:p>
        </p:txBody>
      </p:sp>
      <p:sp>
        <p:nvSpPr>
          <p:cNvPr id="2" name="TextBox 1">
            <a:extLst>
              <a:ext uri="{FF2B5EF4-FFF2-40B4-BE49-F238E27FC236}">
                <a16:creationId xmlns:a16="http://schemas.microsoft.com/office/drawing/2014/main" id="{FA4CBE62-D13F-BC92-7AC2-A69CC7955C9C}"/>
              </a:ext>
            </a:extLst>
          </p:cNvPr>
          <p:cNvSpPr txBox="1"/>
          <p:nvPr/>
        </p:nvSpPr>
        <p:spPr>
          <a:xfrm>
            <a:off x="4491533" y="5961888"/>
            <a:ext cx="284052" cy="307777"/>
          </a:xfrm>
          <a:prstGeom prst="rect">
            <a:avLst/>
          </a:prstGeom>
          <a:noFill/>
        </p:spPr>
        <p:txBody>
          <a:bodyPr wrap="none" rtlCol="0">
            <a:spAutoFit/>
          </a:bodyPr>
          <a:lstStyle/>
          <a:p>
            <a:r>
              <a:rPr lang="en-US" dirty="0"/>
              <a:t>4</a:t>
            </a:r>
          </a:p>
        </p:txBody>
      </p:sp>
      <p:sp>
        <p:nvSpPr>
          <p:cNvPr id="3" name="Rectangle 1">
            <a:extLst>
              <a:ext uri="{FF2B5EF4-FFF2-40B4-BE49-F238E27FC236}">
                <a16:creationId xmlns:a16="http://schemas.microsoft.com/office/drawing/2014/main" id="{1A8E7741-B655-D977-1AC8-C310DBB6F9C8}"/>
              </a:ext>
            </a:extLst>
          </p:cNvPr>
          <p:cNvSpPr>
            <a:spLocks noGrp="1" noChangeArrowheads="1"/>
          </p:cNvSpPr>
          <p:nvPr>
            <p:ph type="body" idx="1"/>
          </p:nvPr>
        </p:nvSpPr>
        <p:spPr bwMode="auto">
          <a:xfrm>
            <a:off x="373259" y="1420758"/>
            <a:ext cx="8520600"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smart locker system</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storage of certificates and important documents.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the locker system using Node</a:t>
            </a:r>
            <a:r>
              <a:rPr lang="en-US" altLang="en-US" sz="1700" b="1" dirty="0">
                <a:solidFill>
                  <a:schemeClr val="tx1"/>
                </a:solidFill>
                <a:latin typeface="Times New Roman" panose="02020603050405020304" pitchFamily="18" charset="0"/>
                <a:cs typeface="Times New Roman" panose="02020603050405020304" pitchFamily="18" charset="0"/>
              </a:rPr>
              <a:t> M</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 ESP8266, Arduino Nano, and RFID technology</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user authentication and file detection.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an automatic locking mechanism</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 servo motor controlled through RFID-based authorization.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 web dashboard</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monitoring locker status, file presence, and user access records.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test and validate the system performance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 real-time environment to ensure reliability and security.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txBox="1">
            <a:spLocks noGrp="1"/>
          </p:cNvSpPr>
          <p:nvPr>
            <p:ph type="title"/>
          </p:nvPr>
        </p:nvSpPr>
        <p:spPr>
          <a:xfrm>
            <a:off x="534912" y="586051"/>
            <a:ext cx="8520600" cy="763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GB"/>
              <a:t>                      </a:t>
            </a:r>
            <a:r>
              <a:rPr lang="en-GB" sz="3200" i="1">
                <a:latin typeface="Palatino Linotype"/>
                <a:ea typeface="Palatino Linotype"/>
                <a:cs typeface="Palatino Linotype"/>
                <a:sym typeface="Palatino Linotype"/>
              </a:rPr>
              <a:t>LITERATURE REVIEW</a:t>
            </a:r>
            <a:endParaRPr sz="3200" i="1">
              <a:latin typeface="Palatino Linotype"/>
              <a:ea typeface="Palatino Linotype"/>
              <a:cs typeface="Palatino Linotype"/>
              <a:sym typeface="Palatino Linotype"/>
            </a:endParaRPr>
          </a:p>
        </p:txBody>
      </p:sp>
      <p:graphicFrame>
        <p:nvGraphicFramePr>
          <p:cNvPr id="7" name="Table 6">
            <a:extLst>
              <a:ext uri="{FF2B5EF4-FFF2-40B4-BE49-F238E27FC236}">
                <a16:creationId xmlns:a16="http://schemas.microsoft.com/office/drawing/2014/main" id="{345F447B-19A3-461A-DD66-54CF90A6706C}"/>
              </a:ext>
            </a:extLst>
          </p:cNvPr>
          <p:cNvGraphicFramePr>
            <a:graphicFrameLocks noGrp="1"/>
          </p:cNvGraphicFramePr>
          <p:nvPr>
            <p:extLst>
              <p:ext uri="{D42A27DB-BD31-4B8C-83A1-F6EECF244321}">
                <p14:modId xmlns:p14="http://schemas.microsoft.com/office/powerpoint/2010/main" val="3627041611"/>
              </p:ext>
            </p:extLst>
          </p:nvPr>
        </p:nvGraphicFramePr>
        <p:xfrm>
          <a:off x="311700" y="1504335"/>
          <a:ext cx="8743812" cy="3854246"/>
        </p:xfrm>
        <a:graphic>
          <a:graphicData uri="http://schemas.openxmlformats.org/drawingml/2006/table">
            <a:tbl>
              <a:tblPr firstRow="1" bandRow="1">
                <a:tableStyleId>{AC66F01D-3274-4D9F-8E81-E456354D3126}</a:tableStyleId>
              </a:tblPr>
              <a:tblGrid>
                <a:gridCol w="681358">
                  <a:extLst>
                    <a:ext uri="{9D8B030D-6E8A-4147-A177-3AD203B41FA5}">
                      <a16:colId xmlns:a16="http://schemas.microsoft.com/office/drawing/2014/main" val="868689161"/>
                    </a:ext>
                  </a:extLst>
                </a:gridCol>
                <a:gridCol w="1337187">
                  <a:extLst>
                    <a:ext uri="{9D8B030D-6E8A-4147-A177-3AD203B41FA5}">
                      <a16:colId xmlns:a16="http://schemas.microsoft.com/office/drawing/2014/main" val="485917638"/>
                    </a:ext>
                  </a:extLst>
                </a:gridCol>
                <a:gridCol w="1504336">
                  <a:extLst>
                    <a:ext uri="{9D8B030D-6E8A-4147-A177-3AD203B41FA5}">
                      <a16:colId xmlns:a16="http://schemas.microsoft.com/office/drawing/2014/main" val="1431588875"/>
                    </a:ext>
                  </a:extLst>
                </a:gridCol>
                <a:gridCol w="1238864">
                  <a:extLst>
                    <a:ext uri="{9D8B030D-6E8A-4147-A177-3AD203B41FA5}">
                      <a16:colId xmlns:a16="http://schemas.microsoft.com/office/drawing/2014/main" val="3422827028"/>
                    </a:ext>
                  </a:extLst>
                </a:gridCol>
                <a:gridCol w="678426">
                  <a:extLst>
                    <a:ext uri="{9D8B030D-6E8A-4147-A177-3AD203B41FA5}">
                      <a16:colId xmlns:a16="http://schemas.microsoft.com/office/drawing/2014/main" val="2962207470"/>
                    </a:ext>
                  </a:extLst>
                </a:gridCol>
                <a:gridCol w="1484671">
                  <a:extLst>
                    <a:ext uri="{9D8B030D-6E8A-4147-A177-3AD203B41FA5}">
                      <a16:colId xmlns:a16="http://schemas.microsoft.com/office/drawing/2014/main" val="3267724621"/>
                    </a:ext>
                  </a:extLst>
                </a:gridCol>
                <a:gridCol w="1818970">
                  <a:extLst>
                    <a:ext uri="{9D8B030D-6E8A-4147-A177-3AD203B41FA5}">
                      <a16:colId xmlns:a16="http://schemas.microsoft.com/office/drawing/2014/main" val="1692272966"/>
                    </a:ext>
                  </a:extLst>
                </a:gridCol>
              </a:tblGrid>
              <a:tr h="1034813">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SI. No</a:t>
                      </a:r>
                    </a:p>
                    <a:p>
                      <a:endParaRPr lang="en-IN" dirty="0">
                        <a:ln>
                          <a:solidFill>
                            <a:srgbClr val="131313"/>
                          </a:solidFill>
                        </a:ln>
                        <a:solidFill>
                          <a:srgbClr val="13131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Authors</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Title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Journal /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r>
                        <a:rPr lang="en-IN" dirty="0">
                          <a:ln>
                            <a:solidFill>
                              <a:srgbClr val="131313"/>
                            </a:solidFill>
                          </a:ln>
                          <a:solidFill>
                            <a:schemeClr val="tx1">
                              <a:lumMod val="95000"/>
                              <a:lumOff val="5000"/>
                            </a:schemeClr>
                          </a:solidFill>
                        </a:rPr>
                        <a:t>Year</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Technique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Gap/ Scope for improvement</a:t>
                      </a:r>
                    </a:p>
                    <a:p>
                      <a:endParaRPr lang="en-US"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871190201"/>
                  </a:ext>
                </a:extLst>
              </a:tr>
              <a:tr h="2819433">
                <a:tc>
                  <a:txBody>
                    <a:bodyPr/>
                    <a:lstStyle/>
                    <a:p>
                      <a:r>
                        <a:rPr lang="en-US" dirty="0">
                          <a:ln>
                            <a:solidFill>
                              <a:srgbClr val="131313"/>
                            </a:solidFill>
                          </a:ln>
                          <a:solidFill>
                            <a:schemeClr val="tx1">
                              <a:lumMod val="95000"/>
                              <a:lumOff val="5000"/>
                            </a:schemeClr>
                          </a:solidFill>
                        </a:rPr>
                        <a:t>1.</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b="0" dirty="0"/>
                        <a:t>C.Bharatiraja, P.K.Chittoor,</a:t>
                      </a:r>
                    </a:p>
                    <a:p>
                      <a:r>
                        <a:rPr lang="pt-BR" b="0" dirty="0"/>
                        <a:t>Y.V.Bhargava</a:t>
                      </a:r>
                      <a:endParaRPr lang="en-IN" b="0"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An IoT based centralized smart locker using RFID technology</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AIP Conference Proceedings</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2023</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RFID-based authentication combined with centralized IoT control for locker access</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Cloud dashboard, real-time monitoring, and scalable cloud storage are not addressed</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620647"/>
                  </a:ext>
                </a:extLst>
              </a:tr>
            </a:tbl>
          </a:graphicData>
        </a:graphic>
      </p:graphicFrame>
      <p:sp>
        <p:nvSpPr>
          <p:cNvPr id="3" name="TextBox 2">
            <a:extLst>
              <a:ext uri="{FF2B5EF4-FFF2-40B4-BE49-F238E27FC236}">
                <a16:creationId xmlns:a16="http://schemas.microsoft.com/office/drawing/2014/main" id="{E0A802C0-D611-E638-8145-6B219402EE8F}"/>
              </a:ext>
            </a:extLst>
          </p:cNvPr>
          <p:cNvSpPr txBox="1"/>
          <p:nvPr/>
        </p:nvSpPr>
        <p:spPr>
          <a:xfrm>
            <a:off x="4546495" y="5964172"/>
            <a:ext cx="497433" cy="307777"/>
          </a:xfrm>
          <a:prstGeom prst="rect">
            <a:avLst/>
          </a:prstGeom>
          <a:noFill/>
        </p:spPr>
        <p:txBody>
          <a:bodyPr wrap="square" rtlCol="0">
            <a:spAutoFit/>
          </a:bodyPr>
          <a:lstStyle/>
          <a:p>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3ACA26C8-D715-F6C5-D7B6-B65CE6EC4238}"/>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458AF9A-8EFF-1474-11A6-E8DE15F2F104}"/>
              </a:ext>
            </a:extLst>
          </p:cNvPr>
          <p:cNvGraphicFramePr>
            <a:graphicFrameLocks noGrp="1"/>
          </p:cNvGraphicFramePr>
          <p:nvPr>
            <p:extLst>
              <p:ext uri="{D42A27DB-BD31-4B8C-83A1-F6EECF244321}">
                <p14:modId xmlns:p14="http://schemas.microsoft.com/office/powerpoint/2010/main" val="1135961708"/>
              </p:ext>
            </p:extLst>
          </p:nvPr>
        </p:nvGraphicFramePr>
        <p:xfrm>
          <a:off x="311700" y="1504335"/>
          <a:ext cx="8743812" cy="3854246"/>
        </p:xfrm>
        <a:graphic>
          <a:graphicData uri="http://schemas.openxmlformats.org/drawingml/2006/table">
            <a:tbl>
              <a:tblPr firstRow="1" bandRow="1">
                <a:tableStyleId>{AC66F01D-3274-4D9F-8E81-E456354D3126}</a:tableStyleId>
              </a:tblPr>
              <a:tblGrid>
                <a:gridCol w="681358">
                  <a:extLst>
                    <a:ext uri="{9D8B030D-6E8A-4147-A177-3AD203B41FA5}">
                      <a16:colId xmlns:a16="http://schemas.microsoft.com/office/drawing/2014/main" val="868689161"/>
                    </a:ext>
                  </a:extLst>
                </a:gridCol>
                <a:gridCol w="1406013">
                  <a:extLst>
                    <a:ext uri="{9D8B030D-6E8A-4147-A177-3AD203B41FA5}">
                      <a16:colId xmlns:a16="http://schemas.microsoft.com/office/drawing/2014/main" val="485917638"/>
                    </a:ext>
                  </a:extLst>
                </a:gridCol>
                <a:gridCol w="1435510">
                  <a:extLst>
                    <a:ext uri="{9D8B030D-6E8A-4147-A177-3AD203B41FA5}">
                      <a16:colId xmlns:a16="http://schemas.microsoft.com/office/drawing/2014/main" val="1431588875"/>
                    </a:ext>
                  </a:extLst>
                </a:gridCol>
                <a:gridCol w="1238864">
                  <a:extLst>
                    <a:ext uri="{9D8B030D-6E8A-4147-A177-3AD203B41FA5}">
                      <a16:colId xmlns:a16="http://schemas.microsoft.com/office/drawing/2014/main" val="3422827028"/>
                    </a:ext>
                  </a:extLst>
                </a:gridCol>
                <a:gridCol w="678426">
                  <a:extLst>
                    <a:ext uri="{9D8B030D-6E8A-4147-A177-3AD203B41FA5}">
                      <a16:colId xmlns:a16="http://schemas.microsoft.com/office/drawing/2014/main" val="2962207470"/>
                    </a:ext>
                  </a:extLst>
                </a:gridCol>
                <a:gridCol w="1484671">
                  <a:extLst>
                    <a:ext uri="{9D8B030D-6E8A-4147-A177-3AD203B41FA5}">
                      <a16:colId xmlns:a16="http://schemas.microsoft.com/office/drawing/2014/main" val="3267724621"/>
                    </a:ext>
                  </a:extLst>
                </a:gridCol>
                <a:gridCol w="1818970">
                  <a:extLst>
                    <a:ext uri="{9D8B030D-6E8A-4147-A177-3AD203B41FA5}">
                      <a16:colId xmlns:a16="http://schemas.microsoft.com/office/drawing/2014/main" val="1692272966"/>
                    </a:ext>
                  </a:extLst>
                </a:gridCol>
              </a:tblGrid>
              <a:tr h="1034813">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SI. No</a:t>
                      </a:r>
                    </a:p>
                    <a:p>
                      <a:endParaRPr lang="en-IN" dirty="0">
                        <a:ln>
                          <a:solidFill>
                            <a:srgbClr val="131313"/>
                          </a:solidFill>
                        </a:ln>
                        <a:solidFill>
                          <a:srgbClr val="13131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Authors</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Title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Journal /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r>
                        <a:rPr lang="en-IN" dirty="0">
                          <a:ln>
                            <a:solidFill>
                              <a:srgbClr val="131313"/>
                            </a:solidFill>
                          </a:ln>
                          <a:solidFill>
                            <a:schemeClr val="tx1">
                              <a:lumMod val="95000"/>
                              <a:lumOff val="5000"/>
                            </a:schemeClr>
                          </a:solidFill>
                        </a:rPr>
                        <a:t>Year</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Technique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Gap/ Scope for improvement</a:t>
                      </a:r>
                    </a:p>
                    <a:p>
                      <a:endParaRPr lang="en-US"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871190201"/>
                  </a:ext>
                </a:extLst>
              </a:tr>
              <a:tr h="2819433">
                <a:tc>
                  <a:txBody>
                    <a:bodyPr/>
                    <a:lstStyle/>
                    <a:p>
                      <a:r>
                        <a:rPr lang="en-US" dirty="0">
                          <a:ln>
                            <a:solidFill>
                              <a:srgbClr val="131313"/>
                            </a:solidFill>
                          </a:ln>
                          <a:solidFill>
                            <a:schemeClr val="tx1">
                              <a:lumMod val="95000"/>
                              <a:lumOff val="5000"/>
                            </a:schemeClr>
                          </a:solidFill>
                        </a:rPr>
                        <a:t>2.</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K. R. </a:t>
                      </a:r>
                      <a:r>
                        <a:rPr lang="en-IN" dirty="0" err="1"/>
                        <a:t>Umadi</a:t>
                      </a:r>
                      <a:r>
                        <a:rPr lang="en-IN" dirty="0"/>
                        <a:t>, A. Aishwarya, J.E. </a:t>
                      </a:r>
                      <a:r>
                        <a:rPr lang="en-IN" dirty="0" err="1"/>
                        <a:t>Narendramath</a:t>
                      </a:r>
                      <a:r>
                        <a:rPr lang="en-IN" dirty="0"/>
                        <a:t>, I. S. M. Inchara</a:t>
                      </a:r>
                      <a:endParaRPr lang="en-IN" b="0"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Smart E-Locker System using IoT</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International </a:t>
                      </a:r>
                      <a:r>
                        <a:rPr lang="fr-FR" dirty="0" err="1"/>
                        <a:t>Conference</a:t>
                      </a:r>
                      <a:r>
                        <a:rPr lang="fr-FR" dirty="0"/>
                        <a:t> on Intelligent Data Communication &amp; IoT (</a:t>
                      </a:r>
                      <a:r>
                        <a:rPr lang="fr-FR" dirty="0" err="1"/>
                        <a:t>IDCIoT</a:t>
                      </a:r>
                      <a:r>
                        <a:rPr lang="fr-FR" dirty="0"/>
                        <a:t>)</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2023</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IoT-based automation with remote access control and sensor-based locker operation</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Limited integration with cloud platforms and lack of detailed event logging</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620647"/>
                  </a:ext>
                </a:extLst>
              </a:tr>
            </a:tbl>
          </a:graphicData>
        </a:graphic>
      </p:graphicFrame>
      <p:sp>
        <p:nvSpPr>
          <p:cNvPr id="2" name="TextBox 1">
            <a:extLst>
              <a:ext uri="{FF2B5EF4-FFF2-40B4-BE49-F238E27FC236}">
                <a16:creationId xmlns:a16="http://schemas.microsoft.com/office/drawing/2014/main" id="{108F0603-70D5-A3BB-1FF7-94231B4312C7}"/>
              </a:ext>
            </a:extLst>
          </p:cNvPr>
          <p:cNvSpPr txBox="1"/>
          <p:nvPr/>
        </p:nvSpPr>
        <p:spPr>
          <a:xfrm>
            <a:off x="4572000" y="5881421"/>
            <a:ext cx="284052" cy="307777"/>
          </a:xfrm>
          <a:prstGeom prst="rect">
            <a:avLst/>
          </a:prstGeom>
          <a:noFill/>
        </p:spPr>
        <p:txBody>
          <a:bodyPr wrap="none" rtlCol="0">
            <a:spAutoFit/>
          </a:bodyPr>
          <a:lstStyle/>
          <a:p>
            <a:r>
              <a:rPr lang="en-US" dirty="0"/>
              <a:t>6</a:t>
            </a:r>
          </a:p>
        </p:txBody>
      </p:sp>
    </p:spTree>
    <p:extLst>
      <p:ext uri="{BB962C8B-B14F-4D97-AF65-F5344CB8AC3E}">
        <p14:creationId xmlns:p14="http://schemas.microsoft.com/office/powerpoint/2010/main" val="743634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874FB671-E3BE-E61E-E6D1-7E6D1FD6A012}"/>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2179F5A9-0F21-157E-80C8-AAD20AE2B4BA}"/>
              </a:ext>
            </a:extLst>
          </p:cNvPr>
          <p:cNvGraphicFramePr>
            <a:graphicFrameLocks noGrp="1"/>
          </p:cNvGraphicFramePr>
          <p:nvPr>
            <p:extLst>
              <p:ext uri="{D42A27DB-BD31-4B8C-83A1-F6EECF244321}">
                <p14:modId xmlns:p14="http://schemas.microsoft.com/office/powerpoint/2010/main" val="200183187"/>
              </p:ext>
            </p:extLst>
          </p:nvPr>
        </p:nvGraphicFramePr>
        <p:xfrm>
          <a:off x="311700" y="1504335"/>
          <a:ext cx="8743812" cy="3854246"/>
        </p:xfrm>
        <a:graphic>
          <a:graphicData uri="http://schemas.openxmlformats.org/drawingml/2006/table">
            <a:tbl>
              <a:tblPr firstRow="1" bandRow="1">
                <a:tableStyleId>{AC66F01D-3274-4D9F-8E81-E456354D3126}</a:tableStyleId>
              </a:tblPr>
              <a:tblGrid>
                <a:gridCol w="681358">
                  <a:extLst>
                    <a:ext uri="{9D8B030D-6E8A-4147-A177-3AD203B41FA5}">
                      <a16:colId xmlns:a16="http://schemas.microsoft.com/office/drawing/2014/main" val="868689161"/>
                    </a:ext>
                  </a:extLst>
                </a:gridCol>
                <a:gridCol w="1406013">
                  <a:extLst>
                    <a:ext uri="{9D8B030D-6E8A-4147-A177-3AD203B41FA5}">
                      <a16:colId xmlns:a16="http://schemas.microsoft.com/office/drawing/2014/main" val="485917638"/>
                    </a:ext>
                  </a:extLst>
                </a:gridCol>
                <a:gridCol w="1435510">
                  <a:extLst>
                    <a:ext uri="{9D8B030D-6E8A-4147-A177-3AD203B41FA5}">
                      <a16:colId xmlns:a16="http://schemas.microsoft.com/office/drawing/2014/main" val="1431588875"/>
                    </a:ext>
                  </a:extLst>
                </a:gridCol>
                <a:gridCol w="1238864">
                  <a:extLst>
                    <a:ext uri="{9D8B030D-6E8A-4147-A177-3AD203B41FA5}">
                      <a16:colId xmlns:a16="http://schemas.microsoft.com/office/drawing/2014/main" val="3422827028"/>
                    </a:ext>
                  </a:extLst>
                </a:gridCol>
                <a:gridCol w="678426">
                  <a:extLst>
                    <a:ext uri="{9D8B030D-6E8A-4147-A177-3AD203B41FA5}">
                      <a16:colId xmlns:a16="http://schemas.microsoft.com/office/drawing/2014/main" val="2962207470"/>
                    </a:ext>
                  </a:extLst>
                </a:gridCol>
                <a:gridCol w="1484671">
                  <a:extLst>
                    <a:ext uri="{9D8B030D-6E8A-4147-A177-3AD203B41FA5}">
                      <a16:colId xmlns:a16="http://schemas.microsoft.com/office/drawing/2014/main" val="3267724621"/>
                    </a:ext>
                  </a:extLst>
                </a:gridCol>
                <a:gridCol w="1818970">
                  <a:extLst>
                    <a:ext uri="{9D8B030D-6E8A-4147-A177-3AD203B41FA5}">
                      <a16:colId xmlns:a16="http://schemas.microsoft.com/office/drawing/2014/main" val="1692272966"/>
                    </a:ext>
                  </a:extLst>
                </a:gridCol>
              </a:tblGrid>
              <a:tr h="1034813">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SI. No</a:t>
                      </a:r>
                    </a:p>
                    <a:p>
                      <a:endParaRPr lang="en-IN" dirty="0">
                        <a:ln>
                          <a:solidFill>
                            <a:srgbClr val="131313"/>
                          </a:solidFill>
                        </a:ln>
                        <a:solidFill>
                          <a:srgbClr val="13131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Authors</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Title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Journal /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r>
                        <a:rPr lang="en-IN" dirty="0">
                          <a:ln>
                            <a:solidFill>
                              <a:srgbClr val="131313"/>
                            </a:solidFill>
                          </a:ln>
                          <a:solidFill>
                            <a:schemeClr val="tx1">
                              <a:lumMod val="95000"/>
                              <a:lumOff val="5000"/>
                            </a:schemeClr>
                          </a:solidFill>
                        </a:rPr>
                        <a:t>Year</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Technique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Gap/ Scope for improvement</a:t>
                      </a:r>
                    </a:p>
                    <a:p>
                      <a:endParaRPr lang="en-US"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871190201"/>
                  </a:ext>
                </a:extLst>
              </a:tr>
              <a:tr h="2819433">
                <a:tc>
                  <a:txBody>
                    <a:bodyPr/>
                    <a:lstStyle/>
                    <a:p>
                      <a:r>
                        <a:rPr lang="en-US" dirty="0">
                          <a:ln>
                            <a:solidFill>
                              <a:srgbClr val="131313"/>
                            </a:solidFill>
                          </a:ln>
                          <a:solidFill>
                            <a:schemeClr val="tx1">
                              <a:lumMod val="95000"/>
                              <a:lumOff val="5000"/>
                            </a:schemeClr>
                          </a:solidFill>
                        </a:rPr>
                        <a:t>2.</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R. Sinha, </a:t>
                      </a:r>
                    </a:p>
                    <a:p>
                      <a:r>
                        <a:rPr lang="en-IN" dirty="0"/>
                        <a:t>P. Iyer</a:t>
                      </a:r>
                      <a:endParaRPr lang="en-IN" b="0"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Secure cloud-based smart locker using Azure IoT Hub</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International Journal of Engineering Research &amp; Technology</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2023</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Cloud-based security using Azure IoT Hub for device communication and data logging</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Hardware-level implementation and real-time hardware validation are not detailed</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620647"/>
                  </a:ext>
                </a:extLst>
              </a:tr>
            </a:tbl>
          </a:graphicData>
        </a:graphic>
      </p:graphicFrame>
      <p:sp>
        <p:nvSpPr>
          <p:cNvPr id="5" name="TextBox 4">
            <a:extLst>
              <a:ext uri="{FF2B5EF4-FFF2-40B4-BE49-F238E27FC236}">
                <a16:creationId xmlns:a16="http://schemas.microsoft.com/office/drawing/2014/main" id="{349438D9-15FE-ABF2-9112-A557D226F6DA}"/>
              </a:ext>
            </a:extLst>
          </p:cNvPr>
          <p:cNvSpPr txBox="1"/>
          <p:nvPr/>
        </p:nvSpPr>
        <p:spPr>
          <a:xfrm>
            <a:off x="4572000" y="5961888"/>
            <a:ext cx="409651" cy="307238"/>
          </a:xfrm>
          <a:prstGeom prst="rect">
            <a:avLst/>
          </a:prstGeom>
          <a:noFill/>
        </p:spPr>
        <p:txBody>
          <a:bodyPr wrap="square" rtlCol="0">
            <a:spAutoFit/>
          </a:bodyPr>
          <a:lstStyle/>
          <a:p>
            <a:r>
              <a:rPr lang="en-US" dirty="0"/>
              <a:t>7</a:t>
            </a:r>
          </a:p>
        </p:txBody>
      </p:sp>
    </p:spTree>
    <p:extLst>
      <p:ext uri="{BB962C8B-B14F-4D97-AF65-F5344CB8AC3E}">
        <p14:creationId xmlns:p14="http://schemas.microsoft.com/office/powerpoint/2010/main" val="312695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75191342-45E2-568A-289F-D36D24ECD70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DFEE46F8-92D5-E318-5EDE-715012A1909C}"/>
              </a:ext>
            </a:extLst>
          </p:cNvPr>
          <p:cNvGraphicFramePr>
            <a:graphicFrameLocks noGrp="1"/>
          </p:cNvGraphicFramePr>
          <p:nvPr>
            <p:extLst>
              <p:ext uri="{D42A27DB-BD31-4B8C-83A1-F6EECF244321}">
                <p14:modId xmlns:p14="http://schemas.microsoft.com/office/powerpoint/2010/main" val="4020107143"/>
              </p:ext>
            </p:extLst>
          </p:nvPr>
        </p:nvGraphicFramePr>
        <p:xfrm>
          <a:off x="311700" y="1504335"/>
          <a:ext cx="8743812" cy="3854246"/>
        </p:xfrm>
        <a:graphic>
          <a:graphicData uri="http://schemas.openxmlformats.org/drawingml/2006/table">
            <a:tbl>
              <a:tblPr firstRow="1" bandRow="1">
                <a:tableStyleId>{AC66F01D-3274-4D9F-8E81-E456354D3126}</a:tableStyleId>
              </a:tblPr>
              <a:tblGrid>
                <a:gridCol w="681358">
                  <a:extLst>
                    <a:ext uri="{9D8B030D-6E8A-4147-A177-3AD203B41FA5}">
                      <a16:colId xmlns:a16="http://schemas.microsoft.com/office/drawing/2014/main" val="868689161"/>
                    </a:ext>
                  </a:extLst>
                </a:gridCol>
                <a:gridCol w="1406013">
                  <a:extLst>
                    <a:ext uri="{9D8B030D-6E8A-4147-A177-3AD203B41FA5}">
                      <a16:colId xmlns:a16="http://schemas.microsoft.com/office/drawing/2014/main" val="485917638"/>
                    </a:ext>
                  </a:extLst>
                </a:gridCol>
                <a:gridCol w="1435510">
                  <a:extLst>
                    <a:ext uri="{9D8B030D-6E8A-4147-A177-3AD203B41FA5}">
                      <a16:colId xmlns:a16="http://schemas.microsoft.com/office/drawing/2014/main" val="1431588875"/>
                    </a:ext>
                  </a:extLst>
                </a:gridCol>
                <a:gridCol w="1238864">
                  <a:extLst>
                    <a:ext uri="{9D8B030D-6E8A-4147-A177-3AD203B41FA5}">
                      <a16:colId xmlns:a16="http://schemas.microsoft.com/office/drawing/2014/main" val="3422827028"/>
                    </a:ext>
                  </a:extLst>
                </a:gridCol>
                <a:gridCol w="678426">
                  <a:extLst>
                    <a:ext uri="{9D8B030D-6E8A-4147-A177-3AD203B41FA5}">
                      <a16:colId xmlns:a16="http://schemas.microsoft.com/office/drawing/2014/main" val="2962207470"/>
                    </a:ext>
                  </a:extLst>
                </a:gridCol>
                <a:gridCol w="1484671">
                  <a:extLst>
                    <a:ext uri="{9D8B030D-6E8A-4147-A177-3AD203B41FA5}">
                      <a16:colId xmlns:a16="http://schemas.microsoft.com/office/drawing/2014/main" val="3267724621"/>
                    </a:ext>
                  </a:extLst>
                </a:gridCol>
                <a:gridCol w="1818970">
                  <a:extLst>
                    <a:ext uri="{9D8B030D-6E8A-4147-A177-3AD203B41FA5}">
                      <a16:colId xmlns:a16="http://schemas.microsoft.com/office/drawing/2014/main" val="1692272966"/>
                    </a:ext>
                  </a:extLst>
                </a:gridCol>
              </a:tblGrid>
              <a:tr h="1034813">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SI. No</a:t>
                      </a:r>
                    </a:p>
                    <a:p>
                      <a:endParaRPr lang="en-IN" dirty="0">
                        <a:ln>
                          <a:solidFill>
                            <a:srgbClr val="131313"/>
                          </a:solidFill>
                        </a:ln>
                        <a:solidFill>
                          <a:srgbClr val="13131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Authors</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Title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Journal /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r>
                        <a:rPr lang="en-IN" dirty="0">
                          <a:ln>
                            <a:solidFill>
                              <a:srgbClr val="131313"/>
                            </a:solidFill>
                          </a:ln>
                          <a:solidFill>
                            <a:schemeClr val="tx1">
                              <a:lumMod val="95000"/>
                              <a:lumOff val="5000"/>
                            </a:schemeClr>
                          </a:solidFill>
                        </a:rPr>
                        <a:t>Year</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Technique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Gap/ Scope for improvement</a:t>
                      </a:r>
                    </a:p>
                    <a:p>
                      <a:endParaRPr lang="en-US"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871190201"/>
                  </a:ext>
                </a:extLst>
              </a:tr>
              <a:tr h="2819433">
                <a:tc>
                  <a:txBody>
                    <a:bodyPr/>
                    <a:lstStyle/>
                    <a:p>
                      <a:r>
                        <a:rPr lang="en-US" dirty="0">
                          <a:ln>
                            <a:solidFill>
                              <a:srgbClr val="131313"/>
                            </a:solidFill>
                          </a:ln>
                          <a:solidFill>
                            <a:schemeClr val="tx1">
                              <a:lumMod val="95000"/>
                              <a:lumOff val="5000"/>
                            </a:schemeClr>
                          </a:solidFill>
                        </a:rPr>
                        <a:t>4.</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dirty="0"/>
                        <a:t>M. Fazero</a:t>
                      </a:r>
                      <a:r>
                        <a:rPr lang="pt-BR"/>
                        <a:t>, </a:t>
                      </a:r>
                    </a:p>
                    <a:p>
                      <a:r>
                        <a:rPr lang="pt-BR"/>
                        <a:t>A</a:t>
                      </a:r>
                      <a:r>
                        <a:rPr lang="pt-BR" dirty="0"/>
                        <a:t>. Rahman, </a:t>
                      </a:r>
                    </a:p>
                    <a:p>
                      <a:r>
                        <a:rPr lang="pt-BR" dirty="0"/>
                        <a:t>R. Fauzi</a:t>
                      </a:r>
                      <a:endParaRPr lang="en-IN" b="0"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 library locker security system with integrated RFID, dual camera monitoring, and Telegram notification</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dirty="0"/>
                        <a:t>J</a:t>
                      </a:r>
                      <a:r>
                        <a:rPr lang="en-IN" dirty="0" err="1"/>
                        <a:t>ournal</a:t>
                      </a:r>
                      <a:r>
                        <a:rPr lang="en-IN" dirty="0"/>
                        <a:t> </a:t>
                      </a:r>
                      <a:r>
                        <a:rPr lang="en-IN" dirty="0" err="1"/>
                        <a:t>Sistem</a:t>
                      </a:r>
                      <a:r>
                        <a:rPr lang="en-IN" dirty="0"/>
                        <a:t> Cerdas</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2024</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RFID-based access control integrated with monitoring systems and alert notifications</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System complexity is high and scalability for large campus deployment is limited</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620647"/>
                  </a:ext>
                </a:extLst>
              </a:tr>
            </a:tbl>
          </a:graphicData>
        </a:graphic>
      </p:graphicFrame>
      <p:sp>
        <p:nvSpPr>
          <p:cNvPr id="2" name="TextBox 1">
            <a:extLst>
              <a:ext uri="{FF2B5EF4-FFF2-40B4-BE49-F238E27FC236}">
                <a16:creationId xmlns:a16="http://schemas.microsoft.com/office/drawing/2014/main" id="{7C48E9A2-69B9-5382-4951-D748F837CE85}"/>
              </a:ext>
            </a:extLst>
          </p:cNvPr>
          <p:cNvSpPr txBox="1"/>
          <p:nvPr/>
        </p:nvSpPr>
        <p:spPr>
          <a:xfrm>
            <a:off x="4572000" y="5947257"/>
            <a:ext cx="629107" cy="307777"/>
          </a:xfrm>
          <a:prstGeom prst="rect">
            <a:avLst/>
          </a:prstGeom>
          <a:noFill/>
        </p:spPr>
        <p:txBody>
          <a:bodyPr wrap="square" rtlCol="0">
            <a:spAutoFit/>
          </a:bodyPr>
          <a:lstStyle/>
          <a:p>
            <a:r>
              <a:rPr lang="en-US" dirty="0"/>
              <a:t>8</a:t>
            </a:r>
          </a:p>
        </p:txBody>
      </p:sp>
    </p:spTree>
    <p:extLst>
      <p:ext uri="{BB962C8B-B14F-4D97-AF65-F5344CB8AC3E}">
        <p14:creationId xmlns:p14="http://schemas.microsoft.com/office/powerpoint/2010/main" val="3396503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22F51D97-FC19-DCD7-784B-53DD0819945A}"/>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32500E2-00E6-A76F-E666-8F2BCBC1C1A5}"/>
              </a:ext>
            </a:extLst>
          </p:cNvPr>
          <p:cNvGraphicFramePr>
            <a:graphicFrameLocks noGrp="1"/>
          </p:cNvGraphicFramePr>
          <p:nvPr>
            <p:extLst>
              <p:ext uri="{D42A27DB-BD31-4B8C-83A1-F6EECF244321}">
                <p14:modId xmlns:p14="http://schemas.microsoft.com/office/powerpoint/2010/main" val="2371763345"/>
              </p:ext>
            </p:extLst>
          </p:nvPr>
        </p:nvGraphicFramePr>
        <p:xfrm>
          <a:off x="311700" y="1504335"/>
          <a:ext cx="8743812" cy="3854246"/>
        </p:xfrm>
        <a:graphic>
          <a:graphicData uri="http://schemas.openxmlformats.org/drawingml/2006/table">
            <a:tbl>
              <a:tblPr firstRow="1" bandRow="1">
                <a:tableStyleId>{AC66F01D-3274-4D9F-8E81-E456354D3126}</a:tableStyleId>
              </a:tblPr>
              <a:tblGrid>
                <a:gridCol w="681358">
                  <a:extLst>
                    <a:ext uri="{9D8B030D-6E8A-4147-A177-3AD203B41FA5}">
                      <a16:colId xmlns:a16="http://schemas.microsoft.com/office/drawing/2014/main" val="868689161"/>
                    </a:ext>
                  </a:extLst>
                </a:gridCol>
                <a:gridCol w="1406013">
                  <a:extLst>
                    <a:ext uri="{9D8B030D-6E8A-4147-A177-3AD203B41FA5}">
                      <a16:colId xmlns:a16="http://schemas.microsoft.com/office/drawing/2014/main" val="485917638"/>
                    </a:ext>
                  </a:extLst>
                </a:gridCol>
                <a:gridCol w="1435510">
                  <a:extLst>
                    <a:ext uri="{9D8B030D-6E8A-4147-A177-3AD203B41FA5}">
                      <a16:colId xmlns:a16="http://schemas.microsoft.com/office/drawing/2014/main" val="1431588875"/>
                    </a:ext>
                  </a:extLst>
                </a:gridCol>
                <a:gridCol w="1238864">
                  <a:extLst>
                    <a:ext uri="{9D8B030D-6E8A-4147-A177-3AD203B41FA5}">
                      <a16:colId xmlns:a16="http://schemas.microsoft.com/office/drawing/2014/main" val="3422827028"/>
                    </a:ext>
                  </a:extLst>
                </a:gridCol>
                <a:gridCol w="678426">
                  <a:extLst>
                    <a:ext uri="{9D8B030D-6E8A-4147-A177-3AD203B41FA5}">
                      <a16:colId xmlns:a16="http://schemas.microsoft.com/office/drawing/2014/main" val="2962207470"/>
                    </a:ext>
                  </a:extLst>
                </a:gridCol>
                <a:gridCol w="1484671">
                  <a:extLst>
                    <a:ext uri="{9D8B030D-6E8A-4147-A177-3AD203B41FA5}">
                      <a16:colId xmlns:a16="http://schemas.microsoft.com/office/drawing/2014/main" val="3267724621"/>
                    </a:ext>
                  </a:extLst>
                </a:gridCol>
                <a:gridCol w="1818970">
                  <a:extLst>
                    <a:ext uri="{9D8B030D-6E8A-4147-A177-3AD203B41FA5}">
                      <a16:colId xmlns:a16="http://schemas.microsoft.com/office/drawing/2014/main" val="1692272966"/>
                    </a:ext>
                  </a:extLst>
                </a:gridCol>
              </a:tblGrid>
              <a:tr h="1034813">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SI. No</a:t>
                      </a:r>
                    </a:p>
                    <a:p>
                      <a:endParaRPr lang="en-IN" dirty="0">
                        <a:ln>
                          <a:solidFill>
                            <a:srgbClr val="131313"/>
                          </a:solidFill>
                        </a:ln>
                        <a:solidFill>
                          <a:srgbClr val="13131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Authors</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Title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Journal / Conference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r>
                        <a:rPr lang="en-IN" dirty="0">
                          <a:ln>
                            <a:solidFill>
                              <a:srgbClr val="131313"/>
                            </a:solidFill>
                          </a:ln>
                          <a:solidFill>
                            <a:schemeClr val="tx1">
                              <a:lumMod val="95000"/>
                              <a:lumOff val="5000"/>
                            </a:schemeClr>
                          </a:solidFill>
                        </a:rPr>
                        <a:t>Year</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Technique</a:t>
                      </a:r>
                    </a:p>
                    <a:p>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dirty="0">
                        <a:ln>
                          <a:solidFill>
                            <a:srgbClr val="131313"/>
                          </a:solidFill>
                        </a:ln>
                        <a:solidFill>
                          <a:schemeClr val="tx1">
                            <a:lumMod val="95000"/>
                            <a:lumOff val="5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ln>
                            <a:solidFill>
                              <a:srgbClr val="131313"/>
                            </a:solidFill>
                          </a:ln>
                          <a:solidFill>
                            <a:schemeClr val="tx1">
                              <a:lumMod val="95000"/>
                              <a:lumOff val="5000"/>
                            </a:schemeClr>
                          </a:solidFill>
                        </a:rPr>
                        <a:t>Gap/ Scope for improvement</a:t>
                      </a:r>
                    </a:p>
                    <a:p>
                      <a:endParaRPr lang="en-US"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871190201"/>
                  </a:ext>
                </a:extLst>
              </a:tr>
              <a:tr h="2819433">
                <a:tc>
                  <a:txBody>
                    <a:bodyPr/>
                    <a:lstStyle/>
                    <a:p>
                      <a:r>
                        <a:rPr lang="en-US" dirty="0">
                          <a:ln>
                            <a:solidFill>
                              <a:srgbClr val="131313"/>
                            </a:solidFill>
                          </a:ln>
                          <a:solidFill>
                            <a:schemeClr val="tx1">
                              <a:lumMod val="95000"/>
                              <a:lumOff val="5000"/>
                            </a:schemeClr>
                          </a:solidFill>
                        </a:rPr>
                        <a:t>5.</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AutoNum type="alphaUcPeriod"/>
                      </a:pPr>
                      <a:r>
                        <a:rPr lang="en-IN" dirty="0"/>
                        <a:t>Nair, </a:t>
                      </a:r>
                    </a:p>
                    <a:p>
                      <a:pPr marL="0" indent="0">
                        <a:buNone/>
                      </a:pPr>
                      <a:r>
                        <a:rPr lang="en-IN" dirty="0"/>
                        <a:t>B. S. Ramesh</a:t>
                      </a:r>
                      <a:endParaRPr lang="en-IN" b="0"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ESP32-CAM smart locker with cloud logging</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Sensors &amp; IoT Conference</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2024</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ESP32-based communication with cloud logging and remote monitoring of locker events</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Advanced access control methods and user-friendly dashboard features are limited</a:t>
                      </a:r>
                      <a:endParaRPr lang="en-IN" dirty="0">
                        <a:ln>
                          <a:solidFill>
                            <a:srgbClr val="131313"/>
                          </a:solidFill>
                        </a:ln>
                        <a:solidFill>
                          <a:schemeClr val="tx1">
                            <a:lumMod val="95000"/>
                            <a:lumOff val="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0620647"/>
                  </a:ext>
                </a:extLst>
              </a:tr>
            </a:tbl>
          </a:graphicData>
        </a:graphic>
      </p:graphicFrame>
      <p:sp>
        <p:nvSpPr>
          <p:cNvPr id="2" name="TextBox 1">
            <a:extLst>
              <a:ext uri="{FF2B5EF4-FFF2-40B4-BE49-F238E27FC236}">
                <a16:creationId xmlns:a16="http://schemas.microsoft.com/office/drawing/2014/main" id="{3B7476C9-B3EA-1B6F-3E9E-7FC834235B21}"/>
              </a:ext>
            </a:extLst>
          </p:cNvPr>
          <p:cNvSpPr txBox="1"/>
          <p:nvPr/>
        </p:nvSpPr>
        <p:spPr>
          <a:xfrm>
            <a:off x="4572000" y="5896051"/>
            <a:ext cx="899770" cy="523220"/>
          </a:xfrm>
          <a:prstGeom prst="rect">
            <a:avLst/>
          </a:prstGeom>
          <a:noFill/>
        </p:spPr>
        <p:txBody>
          <a:bodyPr wrap="square" rtlCol="0">
            <a:spAutoFit/>
          </a:bodyPr>
          <a:lstStyle/>
          <a:p>
            <a:r>
              <a:rPr lang="en-US" dirty="0"/>
              <a:t>9</a:t>
            </a:r>
          </a:p>
          <a:p>
            <a:endParaRPr lang="en-US" dirty="0"/>
          </a:p>
        </p:txBody>
      </p:sp>
    </p:spTree>
    <p:extLst>
      <p:ext uri="{BB962C8B-B14F-4D97-AF65-F5344CB8AC3E}">
        <p14:creationId xmlns:p14="http://schemas.microsoft.com/office/powerpoint/2010/main" val="2930799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183650" y="593367"/>
            <a:ext cx="8520600" cy="763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GB" i="1">
                <a:latin typeface="Times New Roman"/>
                <a:ea typeface="Times New Roman"/>
                <a:cs typeface="Times New Roman"/>
                <a:sym typeface="Times New Roman"/>
              </a:rPr>
              <a:t> Block Diagram</a:t>
            </a:r>
            <a:endParaRPr i="1">
              <a:latin typeface="Times New Roman"/>
              <a:ea typeface="Times New Roman"/>
              <a:cs typeface="Times New Roman"/>
              <a:sym typeface="Times New Roman"/>
            </a:endParaRPr>
          </a:p>
        </p:txBody>
      </p:sp>
      <p:sp>
        <p:nvSpPr>
          <p:cNvPr id="133" name="Google Shape;133;p5"/>
          <p:cNvSpPr txBox="1"/>
          <p:nvPr/>
        </p:nvSpPr>
        <p:spPr>
          <a:xfrm>
            <a:off x="211725" y="5331183"/>
            <a:ext cx="9025349" cy="750945"/>
          </a:xfrm>
          <a:prstGeom prst="rect">
            <a:avLst/>
          </a:prstGeom>
          <a:noFill/>
          <a:ln>
            <a:noFill/>
          </a:ln>
        </p:spPr>
        <p:txBody>
          <a:bodyPr spcFirstLastPara="1" wrap="square" lIns="91425" tIns="91425" rIns="91425" bIns="91425" anchor="t" anchorCtr="0">
            <a:spAutoFit/>
          </a:bodyPr>
          <a:lstStyle/>
          <a:p>
            <a:pPr lvl="0">
              <a:lnSpc>
                <a:spcPct val="115000"/>
              </a:lnSpc>
            </a:pPr>
            <a:r>
              <a:rPr lang="en-US" sz="1600" dirty="0">
                <a:latin typeface="Times New Roman" panose="02020603050405020304" pitchFamily="18" charset="0"/>
                <a:cs typeface="Times New Roman" panose="02020603050405020304" pitchFamily="18" charset="0"/>
              </a:rPr>
              <a:t>The flowchart explains the step-by-step working of the RFID-based locker system. Only authorized users can open the locker to place or remove the certificate, after which the locker is securely locked again.</a:t>
            </a: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AutoShape 4">
            <a:extLst>
              <a:ext uri="{FF2B5EF4-FFF2-40B4-BE49-F238E27FC236}">
                <a16:creationId xmlns:a16="http://schemas.microsoft.com/office/drawing/2014/main" id="{FE288093-CC75-6190-187D-A3EB28A5A5D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6">
            <a:extLst>
              <a:ext uri="{FF2B5EF4-FFF2-40B4-BE49-F238E27FC236}">
                <a16:creationId xmlns:a16="http://schemas.microsoft.com/office/drawing/2014/main" id="{9F49EB69-7036-6BD7-6F08-726245085270}"/>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B2ACCB32-6757-E686-DE2D-F144409B5322}"/>
                  </a:ext>
                </a:extLst>
              </p14:cNvPr>
              <p14:cNvContentPartPr/>
              <p14:nvPr/>
            </p14:nvContentPartPr>
            <p14:xfrm>
              <a:off x="-1441541" y="1147997"/>
              <a:ext cx="360" cy="360"/>
            </p14:xfrm>
          </p:contentPart>
        </mc:Choice>
        <mc:Fallback xmlns="">
          <p:pic>
            <p:nvPicPr>
              <p:cNvPr id="7" name="Ink 6">
                <a:extLst>
                  <a:ext uri="{FF2B5EF4-FFF2-40B4-BE49-F238E27FC236}">
                    <a16:creationId xmlns:a16="http://schemas.microsoft.com/office/drawing/2014/main" id="{B2ACCB32-6757-E686-DE2D-F144409B5322}"/>
                  </a:ext>
                </a:extLst>
              </p:cNvPr>
              <p:cNvPicPr/>
              <p:nvPr/>
            </p:nvPicPr>
            <p:blipFill>
              <a:blip r:embed="rId5"/>
              <a:stretch>
                <a:fillRect/>
              </a:stretch>
            </p:blipFill>
            <p:spPr>
              <a:xfrm>
                <a:off x="-1450181" y="1139357"/>
                <a:ext cx="18000" cy="18000"/>
              </a:xfrm>
              <a:prstGeom prst="rect">
                <a:avLst/>
              </a:prstGeom>
            </p:spPr>
          </p:pic>
        </mc:Fallback>
      </mc:AlternateContent>
      <p:sp>
        <p:nvSpPr>
          <p:cNvPr id="8" name="Rectangle 7">
            <a:extLst>
              <a:ext uri="{FF2B5EF4-FFF2-40B4-BE49-F238E27FC236}">
                <a16:creationId xmlns:a16="http://schemas.microsoft.com/office/drawing/2014/main" id="{C6CF7F5D-12EB-BD23-EDC7-A161DDF00DF5}"/>
              </a:ext>
            </a:extLst>
          </p:cNvPr>
          <p:cNvSpPr/>
          <p:nvPr/>
        </p:nvSpPr>
        <p:spPr>
          <a:xfrm>
            <a:off x="2748077" y="1351824"/>
            <a:ext cx="3647846" cy="378036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Generated image">
            <a:extLst>
              <a:ext uri="{FF2B5EF4-FFF2-40B4-BE49-F238E27FC236}">
                <a16:creationId xmlns:a16="http://schemas.microsoft.com/office/drawing/2014/main" id="{D47BF9F7-7154-1101-CF01-78570C190E57}"/>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a:extLst>
              <a:ext uri="{FF2B5EF4-FFF2-40B4-BE49-F238E27FC236}">
                <a16:creationId xmlns:a16="http://schemas.microsoft.com/office/drawing/2014/main" id="{149505FD-728E-AB79-9E17-103B851862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6351" y="1386420"/>
            <a:ext cx="3511297" cy="36916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370DD1A-8DEE-D3AA-C6DD-1F53FB801791}"/>
              </a:ext>
            </a:extLst>
          </p:cNvPr>
          <p:cNvSpPr txBox="1"/>
          <p:nvPr/>
        </p:nvSpPr>
        <p:spPr>
          <a:xfrm>
            <a:off x="4213555" y="6005779"/>
            <a:ext cx="663245" cy="523220"/>
          </a:xfrm>
          <a:prstGeom prst="rect">
            <a:avLst/>
          </a:prstGeom>
          <a:noFill/>
        </p:spPr>
        <p:txBody>
          <a:bodyPr wrap="square" rtlCol="0">
            <a:spAutoFit/>
          </a:bodyPr>
          <a:lstStyle/>
          <a:p>
            <a:r>
              <a:rPr lang="en-US" dirty="0"/>
              <a:t>10</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g3c61edcaedb_0_15"/>
          <p:cNvSpPr txBox="1"/>
          <p:nvPr/>
        </p:nvSpPr>
        <p:spPr>
          <a:xfrm>
            <a:off x="152400" y="5096805"/>
            <a:ext cx="9144000" cy="757869"/>
          </a:xfrm>
          <a:prstGeom prst="rect">
            <a:avLst/>
          </a:prstGeom>
          <a:noFill/>
          <a:ln>
            <a:noFill/>
          </a:ln>
        </p:spPr>
        <p:txBody>
          <a:bodyPr spcFirstLastPara="1" wrap="square" lIns="91425" tIns="91425" rIns="91425" bIns="91425" anchor="t" anchorCtr="0">
            <a:spAutoFit/>
          </a:bodyPr>
          <a:lstStyle/>
          <a:p>
            <a:pPr lvl="0" algn="ctr">
              <a:lnSpc>
                <a:spcPct val="115000"/>
              </a:lnSpc>
              <a:spcBef>
                <a:spcPts val="1200"/>
              </a:spcBef>
              <a:spcAft>
                <a:spcPts val="1200"/>
              </a:spcAft>
            </a:pPr>
            <a:r>
              <a:rPr lang="en-GB" sz="1500" b="1" dirty="0">
                <a:solidFill>
                  <a:schemeClr val="dk1"/>
                </a:solidFill>
                <a:latin typeface="Times New Roman"/>
                <a:ea typeface="Times New Roman"/>
                <a:cs typeface="Times New Roman"/>
                <a:sym typeface="Times New Roman"/>
              </a:rPr>
              <a:t>Figure 1.1:</a:t>
            </a:r>
            <a:r>
              <a:rPr lang="en-US" sz="1500" b="1" dirty="0">
                <a:latin typeface="Times New Roman" panose="02020603050405020304" pitchFamily="18" charset="0"/>
                <a:cs typeface="Times New Roman" panose="02020603050405020304" pitchFamily="18" charset="0"/>
              </a:rPr>
              <a:t>RFID-Based Access Control Hardware Architecture Using </a:t>
            </a:r>
            <a:r>
              <a:rPr lang="en-US" sz="1500" b="1" dirty="0" err="1">
                <a:latin typeface="Times New Roman" panose="02020603050405020304" pitchFamily="18" charset="0"/>
                <a:cs typeface="Times New Roman" panose="02020603050405020304" pitchFamily="18" charset="0"/>
              </a:rPr>
              <a:t>NodeMCU</a:t>
            </a:r>
            <a:r>
              <a:rPr lang="en-US" sz="1500" b="1" dirty="0">
                <a:latin typeface="Times New Roman" panose="02020603050405020304" pitchFamily="18" charset="0"/>
                <a:cs typeface="Times New Roman" panose="02020603050405020304" pitchFamily="18" charset="0"/>
              </a:rPr>
              <a:t> (ESP8266)</a:t>
            </a:r>
            <a:endParaRPr sz="15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AutoShape 2">
            <a:extLst>
              <a:ext uri="{FF2B5EF4-FFF2-40B4-BE49-F238E27FC236}">
                <a16:creationId xmlns:a16="http://schemas.microsoft.com/office/drawing/2014/main" id="{D064E8FE-0E04-3DA7-7EA0-9AE6930E707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a:extLst>
              <a:ext uri="{FF2B5EF4-FFF2-40B4-BE49-F238E27FC236}">
                <a16:creationId xmlns:a16="http://schemas.microsoft.com/office/drawing/2014/main" id="{725D8B2B-FCAA-8527-8C9D-9F4AAC4A0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459" y="1033412"/>
            <a:ext cx="6825082" cy="405796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0E6C49-E704-0C10-86B7-A987B0696B0A}"/>
              </a:ext>
            </a:extLst>
          </p:cNvPr>
          <p:cNvSpPr txBox="1"/>
          <p:nvPr/>
        </p:nvSpPr>
        <p:spPr>
          <a:xfrm>
            <a:off x="4367174" y="5991149"/>
            <a:ext cx="731520" cy="307238"/>
          </a:xfrm>
          <a:prstGeom prst="rect">
            <a:avLst/>
          </a:prstGeom>
          <a:noFill/>
        </p:spPr>
        <p:txBody>
          <a:bodyPr wrap="square" rtlCol="0">
            <a:spAutoFit/>
          </a:bodyPr>
          <a:lstStyle/>
          <a:p>
            <a:r>
              <a:rPr lang="en-US"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c61edcaedb_1_9"/>
          <p:cNvSpPr txBox="1">
            <a:spLocks noGrp="1"/>
          </p:cNvSpPr>
          <p:nvPr>
            <p:ph type="title"/>
          </p:nvPr>
        </p:nvSpPr>
        <p:spPr>
          <a:xfrm>
            <a:off x="311700" y="48101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solidFill>
                  <a:schemeClr val="dk1"/>
                </a:solidFill>
                <a:latin typeface="Times New Roman" panose="02020603050405020304" pitchFamily="18" charset="0"/>
                <a:ea typeface="Arial"/>
                <a:cs typeface="Times New Roman" panose="02020603050405020304" pitchFamily="18" charset="0"/>
                <a:sym typeface="Arial"/>
              </a:rPr>
              <a:t>Hardware and Software to be used</a:t>
            </a:r>
            <a:endParaRPr dirty="0">
              <a:latin typeface="Times New Roman" panose="02020603050405020304" pitchFamily="18" charset="0"/>
              <a:cs typeface="Times New Roman" panose="02020603050405020304" pitchFamily="18" charset="0"/>
            </a:endParaRPr>
          </a:p>
        </p:txBody>
      </p:sp>
      <p:sp>
        <p:nvSpPr>
          <p:cNvPr id="155" name="Google Shape;155;g3c61edcaedb_1_9"/>
          <p:cNvSpPr txBox="1">
            <a:spLocks noGrp="1"/>
          </p:cNvSpPr>
          <p:nvPr>
            <p:ph type="body" idx="1"/>
          </p:nvPr>
        </p:nvSpPr>
        <p:spPr>
          <a:xfrm>
            <a:off x="311700" y="1244533"/>
            <a:ext cx="8671366" cy="4555200"/>
          </a:xfrm>
          <a:prstGeom prst="rect">
            <a:avLst/>
          </a:prstGeom>
        </p:spPr>
        <p:txBody>
          <a:bodyPr spcFirstLastPara="1" wrap="square" lIns="91425" tIns="91425" rIns="91425" bIns="91425" anchor="t" anchorCtr="0">
            <a:noAutofit/>
          </a:bodyPr>
          <a:lstStyle/>
          <a:p>
            <a:pPr marL="88900" lvl="0" indent="0" algn="l" rtl="0">
              <a:lnSpc>
                <a:spcPct val="115000"/>
              </a:lnSpc>
              <a:spcBef>
                <a:spcPts val="0"/>
              </a:spcBef>
              <a:spcAft>
                <a:spcPts val="0"/>
              </a:spcAft>
              <a:buNone/>
            </a:pPr>
            <a:r>
              <a:rPr lang="en-GB" sz="2000" b="1" u="sng" dirty="0">
                <a:solidFill>
                  <a:schemeClr val="dk1"/>
                </a:solidFill>
                <a:latin typeface="Times New Roman" panose="02020603050405020304" pitchFamily="18" charset="0"/>
                <a:ea typeface="Arial"/>
                <a:cs typeface="Times New Roman" panose="02020603050405020304" pitchFamily="18" charset="0"/>
                <a:sym typeface="Arial"/>
              </a:rPr>
              <a:t>Hardware components :</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Node MCU ESP8266</a:t>
            </a:r>
            <a:r>
              <a:rPr lang="en-US" sz="1700" dirty="0">
                <a:latin typeface="Times New Roman" panose="02020603050405020304" pitchFamily="18" charset="0"/>
                <a:cs typeface="Times New Roman" panose="02020603050405020304" pitchFamily="18" charset="0"/>
              </a:rPr>
              <a:t> – Main controller used for processing and Wi-Fi communication.</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Arduino Nano</a:t>
            </a:r>
            <a:r>
              <a:rPr lang="en-US" sz="1700" dirty="0">
                <a:latin typeface="Times New Roman" panose="02020603050405020304" pitchFamily="18" charset="0"/>
                <a:cs typeface="Times New Roman" panose="02020603050405020304" pitchFamily="18" charset="0"/>
              </a:rPr>
              <a:t> – Supports sensor interfacing and control operations.</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RFID Readers (2)</a:t>
            </a:r>
            <a:r>
              <a:rPr lang="en-US" sz="1700" dirty="0">
                <a:latin typeface="Times New Roman" panose="02020603050405020304" pitchFamily="18" charset="0"/>
                <a:cs typeface="Times New Roman" panose="02020603050405020304" pitchFamily="18" charset="0"/>
              </a:rPr>
              <a:t> – One reader authenticates users and the other detects file presence.</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RFID Tags</a:t>
            </a:r>
            <a:r>
              <a:rPr lang="en-US" sz="1700" dirty="0">
                <a:latin typeface="Times New Roman" panose="02020603050405020304" pitchFamily="18" charset="0"/>
                <a:cs typeface="Times New Roman" panose="02020603050405020304" pitchFamily="18" charset="0"/>
              </a:rPr>
              <a:t> – Used as identification cards for authorized users and file tracking.</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Servo Motor</a:t>
            </a:r>
            <a:r>
              <a:rPr lang="en-US" sz="1700" dirty="0">
                <a:latin typeface="Times New Roman" panose="02020603050405020304" pitchFamily="18" charset="0"/>
                <a:cs typeface="Times New Roman" panose="02020603050405020304" pitchFamily="18" charset="0"/>
              </a:rPr>
              <a:t> – Controls automatic locking and unlocking of the locker.</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Green LED</a:t>
            </a:r>
            <a:r>
              <a:rPr lang="en-US" sz="1700" dirty="0">
                <a:latin typeface="Times New Roman" panose="02020603050405020304" pitchFamily="18" charset="0"/>
                <a:cs typeface="Times New Roman" panose="02020603050405020304" pitchFamily="18" charset="0"/>
              </a:rPr>
              <a:t> – Indicates authorized access.</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Red LED</a:t>
            </a:r>
            <a:r>
              <a:rPr lang="en-US" sz="1700" dirty="0">
                <a:latin typeface="Times New Roman" panose="02020603050405020304" pitchFamily="18" charset="0"/>
                <a:cs typeface="Times New Roman" panose="02020603050405020304" pitchFamily="18" charset="0"/>
              </a:rPr>
              <a:t> – Indicates unauthorized access.</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Power Supply</a:t>
            </a:r>
            <a:r>
              <a:rPr lang="en-US" sz="1700" dirty="0">
                <a:latin typeface="Times New Roman" panose="02020603050405020304" pitchFamily="18" charset="0"/>
                <a:cs typeface="Times New Roman" panose="02020603050405020304" pitchFamily="18" charset="0"/>
              </a:rPr>
              <a:t> – Provides electrical power to the system.</a:t>
            </a:r>
          </a:p>
          <a:p>
            <a:pPr>
              <a:lnSpc>
                <a:spcPct val="150000"/>
              </a:lnSpc>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Connecting Wires</a:t>
            </a:r>
            <a:r>
              <a:rPr lang="en-US" sz="1700" dirty="0">
                <a:latin typeface="Times New Roman" panose="02020603050405020304" pitchFamily="18" charset="0"/>
                <a:cs typeface="Times New Roman" panose="02020603050405020304" pitchFamily="18" charset="0"/>
              </a:rPr>
              <a:t> – Used to connect all hardware components.</a:t>
            </a:r>
          </a:p>
          <a:p>
            <a:pPr>
              <a:buFont typeface="Arial" panose="020B0604020202020204" pitchFamily="34" charset="0"/>
              <a:buChar char="•"/>
            </a:pPr>
            <a:endParaRPr sz="1700" b="1" dirty="0">
              <a:solidFill>
                <a:schemeClr val="dk1"/>
              </a:solidFill>
              <a:latin typeface="Times New Roman" panose="02020603050405020304" pitchFamily="18" charset="0"/>
              <a:ea typeface="Arial"/>
              <a:cs typeface="Times New Roman" panose="02020603050405020304" pitchFamily="18" charset="0"/>
              <a:sym typeface="Arial"/>
            </a:endParaRPr>
          </a:p>
          <a:p>
            <a:pPr marL="0" lvl="0" indent="0" algn="l" rtl="0">
              <a:spcBef>
                <a:spcPts val="0"/>
              </a:spcBef>
              <a:spcAft>
                <a:spcPts val="0"/>
              </a:spcAft>
              <a:buNone/>
            </a:pPr>
            <a:endParaRPr sz="1900" dirty="0">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BDE5EA3E-C0BC-5FE1-DE30-050698B5A1FB}"/>
              </a:ext>
            </a:extLst>
          </p:cNvPr>
          <p:cNvSpPr txBox="1"/>
          <p:nvPr/>
        </p:nvSpPr>
        <p:spPr>
          <a:xfrm>
            <a:off x="4513478" y="5962427"/>
            <a:ext cx="599847" cy="307777"/>
          </a:xfrm>
          <a:prstGeom prst="rect">
            <a:avLst/>
          </a:prstGeom>
          <a:noFill/>
        </p:spPr>
        <p:txBody>
          <a:bodyPr wrap="square" rtlCol="0">
            <a:spAutoFit/>
          </a:bodyPr>
          <a:lstStyle/>
          <a:p>
            <a:r>
              <a:rPr lang="en-US"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0340-549A-3EDC-37AE-0AEB7061137F}"/>
              </a:ext>
            </a:extLst>
          </p:cNvPr>
          <p:cNvSpPr>
            <a:spLocks noGrp="1"/>
          </p:cNvSpPr>
          <p:nvPr>
            <p:ph type="title"/>
          </p:nvPr>
        </p:nvSpPr>
        <p:spPr/>
        <p:txBody>
          <a:bodyPr/>
          <a:lstStyle/>
          <a:p>
            <a:r>
              <a:rPr lang="en-US" sz="2000" u="sng" dirty="0">
                <a:latin typeface="Times New Roman" panose="02020603050405020304" pitchFamily="18" charset="0"/>
                <a:cs typeface="Times New Roman" panose="02020603050405020304" pitchFamily="18" charset="0"/>
              </a:rPr>
              <a:t>Software Components:</a:t>
            </a:r>
          </a:p>
        </p:txBody>
      </p:sp>
      <p:sp>
        <p:nvSpPr>
          <p:cNvPr id="3" name="Text Placeholder 2">
            <a:extLst>
              <a:ext uri="{FF2B5EF4-FFF2-40B4-BE49-F238E27FC236}">
                <a16:creationId xmlns:a16="http://schemas.microsoft.com/office/drawing/2014/main" id="{83E3BD06-3C4C-F25F-B62B-0BDD0A8C7998}"/>
              </a:ext>
            </a:extLst>
          </p:cNvPr>
          <p:cNvSpPr>
            <a:spLocks noGrp="1"/>
          </p:cNvSpPr>
          <p:nvPr>
            <p:ph type="body" idx="1"/>
          </p:nvPr>
        </p:nvSpPr>
        <p:spPr>
          <a:xfrm>
            <a:off x="311700" y="1258656"/>
            <a:ext cx="8520600" cy="4555200"/>
          </a:xfrm>
        </p:spPr>
        <p:txBody>
          <a:bodyPr/>
          <a:lstStyle/>
          <a:p>
            <a:pPr marL="88900" indent="0">
              <a:buNone/>
            </a:pPr>
            <a:endParaRPr lang="en-US" sz="1700" dirty="0">
              <a:latin typeface="Times New Roman" panose="02020603050405020304" pitchFamily="18" charset="0"/>
              <a:cs typeface="Times New Roman" panose="02020603050405020304" pitchFamily="18" charset="0"/>
            </a:endParaRPr>
          </a:p>
          <a:p>
            <a:endParaRPr lang="en-US" dirty="0"/>
          </a:p>
        </p:txBody>
      </p:sp>
      <p:sp>
        <p:nvSpPr>
          <p:cNvPr id="4" name="Rectangle 1">
            <a:extLst>
              <a:ext uri="{FF2B5EF4-FFF2-40B4-BE49-F238E27FC236}">
                <a16:creationId xmlns:a16="http://schemas.microsoft.com/office/drawing/2014/main" id="{214A5949-73EF-ABDB-8A46-3EA05EDC5C97}"/>
              </a:ext>
            </a:extLst>
          </p:cNvPr>
          <p:cNvSpPr>
            <a:spLocks noChangeArrowheads="1"/>
          </p:cNvSpPr>
          <p:nvPr/>
        </p:nvSpPr>
        <p:spPr bwMode="auto">
          <a:xfrm>
            <a:off x="475487" y="1152202"/>
            <a:ext cx="7293984" cy="2026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IDE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to write and upload program code.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Embedded C</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Programming language used to control system logic.</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Dashboard (HTML)</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Displays Locker status and activity.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ESP8266 Web Server</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real-time monitoring through Wi-Fi.</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Telegram Bot API</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Sends notifications about locker access and file activity</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8" name="TextBox 7">
            <a:extLst>
              <a:ext uri="{FF2B5EF4-FFF2-40B4-BE49-F238E27FC236}">
                <a16:creationId xmlns:a16="http://schemas.microsoft.com/office/drawing/2014/main" id="{1426A32A-2E44-2ACD-1059-368A5E0357A7}"/>
              </a:ext>
            </a:extLst>
          </p:cNvPr>
          <p:cNvSpPr txBox="1"/>
          <p:nvPr/>
        </p:nvSpPr>
        <p:spPr>
          <a:xfrm>
            <a:off x="4359859" y="5962443"/>
            <a:ext cx="563270" cy="307777"/>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3435316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c61edcaedb_1_26"/>
          <p:cNvSpPr txBox="1">
            <a:spLocks noGrp="1"/>
          </p:cNvSpPr>
          <p:nvPr>
            <p:ph type="title"/>
          </p:nvPr>
        </p:nvSpPr>
        <p:spPr>
          <a:xfrm>
            <a:off x="311700" y="44160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t>
            </a:r>
            <a:endParaRPr/>
          </a:p>
        </p:txBody>
      </p:sp>
      <p:sp>
        <p:nvSpPr>
          <p:cNvPr id="168" name="Google Shape;168;g3c61edcaedb_1_26"/>
          <p:cNvSpPr txBox="1"/>
          <p:nvPr/>
        </p:nvSpPr>
        <p:spPr>
          <a:xfrm>
            <a:off x="1123200" y="5377085"/>
            <a:ext cx="7709100" cy="430857"/>
          </a:xfrm>
          <a:prstGeom prst="rect">
            <a:avLst/>
          </a:prstGeom>
          <a:noFill/>
          <a:ln>
            <a:noFill/>
          </a:ln>
        </p:spPr>
        <p:txBody>
          <a:bodyPr spcFirstLastPara="1" wrap="square" lIns="91425" tIns="91425" rIns="91425" bIns="91425" anchor="t" anchorCtr="0">
            <a:spAutoFit/>
          </a:bodyPr>
          <a:lstStyle/>
          <a:p>
            <a:pPr lvl="0"/>
            <a:r>
              <a:rPr lang="en-GB" sz="1500" b="1" dirty="0">
                <a:solidFill>
                  <a:schemeClr val="dk1"/>
                </a:solidFill>
                <a:latin typeface="Times New Roman"/>
                <a:ea typeface="Times New Roman"/>
                <a:cs typeface="Times New Roman"/>
                <a:sym typeface="Times New Roman"/>
              </a:rPr>
              <a:t>           Fig  1.2  </a:t>
            </a:r>
            <a:r>
              <a:rPr lang="en-US" sz="1500" b="1" dirty="0">
                <a:latin typeface="Times New Roman" panose="02020603050405020304" pitchFamily="18" charset="0"/>
                <a:cs typeface="Times New Roman" panose="02020603050405020304" pitchFamily="18" charset="0"/>
              </a:rPr>
              <a:t>RFID Reader and Servo Motor Hardware Setup</a:t>
            </a:r>
            <a:endParaRPr sz="1500" b="1" dirty="0">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F7823AF7-0202-F515-2D5B-0E1BFA2EA443}"/>
              </a:ext>
            </a:extLst>
          </p:cNvPr>
          <p:cNvPicPr>
            <a:picLocks noChangeAspect="1"/>
          </p:cNvPicPr>
          <p:nvPr/>
        </p:nvPicPr>
        <p:blipFill>
          <a:blip r:embed="rId3"/>
          <a:stretch>
            <a:fillRect/>
          </a:stretch>
        </p:blipFill>
        <p:spPr>
          <a:xfrm>
            <a:off x="690977" y="855879"/>
            <a:ext cx="7370374" cy="4265167"/>
          </a:xfrm>
          <a:prstGeom prst="rect">
            <a:avLst/>
          </a:prstGeom>
        </p:spPr>
      </p:pic>
      <p:sp>
        <p:nvSpPr>
          <p:cNvPr id="2" name="TextBox 1">
            <a:extLst>
              <a:ext uri="{FF2B5EF4-FFF2-40B4-BE49-F238E27FC236}">
                <a16:creationId xmlns:a16="http://schemas.microsoft.com/office/drawing/2014/main" id="{2F2E45D2-CE41-EC01-FF1E-BBF64BB89260}"/>
              </a:ext>
            </a:extLst>
          </p:cNvPr>
          <p:cNvSpPr txBox="1"/>
          <p:nvPr/>
        </p:nvSpPr>
        <p:spPr>
          <a:xfrm>
            <a:off x="4507837" y="6002121"/>
            <a:ext cx="614477" cy="523220"/>
          </a:xfrm>
          <a:prstGeom prst="rect">
            <a:avLst/>
          </a:prstGeom>
          <a:noFill/>
        </p:spPr>
        <p:txBody>
          <a:bodyPr wrap="square" rtlCol="0">
            <a:spAutoFit/>
          </a:bodyPr>
          <a:lstStyle/>
          <a:p>
            <a:r>
              <a:rPr lang="en-US" dirty="0"/>
              <a:t>14</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g3c61edcaedb_1_36"/>
          <p:cNvSpPr txBox="1"/>
          <p:nvPr/>
        </p:nvSpPr>
        <p:spPr>
          <a:xfrm>
            <a:off x="1136291" y="4903237"/>
            <a:ext cx="7188600" cy="775567"/>
          </a:xfrm>
          <a:prstGeom prst="rect">
            <a:avLst/>
          </a:prstGeom>
          <a:noFill/>
          <a:ln>
            <a:noFill/>
          </a:ln>
        </p:spPr>
        <p:txBody>
          <a:bodyPr spcFirstLastPara="1" wrap="square" lIns="91425" tIns="91425" rIns="91425" bIns="91425" anchor="t" anchorCtr="0">
            <a:spAutoFit/>
          </a:bodyPr>
          <a:lstStyle/>
          <a:p>
            <a:pPr marL="457200" lvl="0" algn="just">
              <a:lnSpc>
                <a:spcPct val="115000"/>
              </a:lnSpc>
              <a:spcBef>
                <a:spcPts val="1200"/>
              </a:spcBef>
              <a:spcAft>
                <a:spcPts val="1200"/>
              </a:spcAft>
            </a:pPr>
            <a:r>
              <a:rPr lang="en-GB" sz="1500" b="1" dirty="0">
                <a:solidFill>
                  <a:schemeClr val="dk1"/>
                </a:solidFill>
                <a:latin typeface="Times New Roman"/>
                <a:ea typeface="Times New Roman"/>
                <a:cs typeface="Times New Roman"/>
                <a:sym typeface="Times New Roman"/>
              </a:rPr>
              <a:t>Fig  1.3 </a:t>
            </a:r>
            <a:r>
              <a:rPr lang="en-US" sz="1500" b="1" dirty="0">
                <a:latin typeface="Times New Roman" panose="02020603050405020304" pitchFamily="18" charset="0"/>
                <a:cs typeface="Times New Roman" panose="02020603050405020304" pitchFamily="18" charset="0"/>
              </a:rPr>
              <a:t>Internal Hardware Arrangement of File Locker System</a:t>
            </a:r>
            <a:endParaRPr sz="15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3" name="Picture 2">
            <a:extLst>
              <a:ext uri="{FF2B5EF4-FFF2-40B4-BE49-F238E27FC236}">
                <a16:creationId xmlns:a16="http://schemas.microsoft.com/office/drawing/2014/main" id="{18933DDE-5F88-76B4-3C65-38B339449C61}"/>
              </a:ext>
            </a:extLst>
          </p:cNvPr>
          <p:cNvPicPr>
            <a:picLocks noChangeAspect="1"/>
          </p:cNvPicPr>
          <p:nvPr/>
        </p:nvPicPr>
        <p:blipFill>
          <a:blip r:embed="rId3"/>
          <a:stretch>
            <a:fillRect/>
          </a:stretch>
        </p:blipFill>
        <p:spPr>
          <a:xfrm>
            <a:off x="1616658" y="1043500"/>
            <a:ext cx="5186477" cy="3660173"/>
          </a:xfrm>
          <a:prstGeom prst="rect">
            <a:avLst/>
          </a:prstGeom>
        </p:spPr>
      </p:pic>
      <p:sp>
        <p:nvSpPr>
          <p:cNvPr id="4" name="TextBox 3">
            <a:extLst>
              <a:ext uri="{FF2B5EF4-FFF2-40B4-BE49-F238E27FC236}">
                <a16:creationId xmlns:a16="http://schemas.microsoft.com/office/drawing/2014/main" id="{F0C15ABE-5CF4-75E8-FE79-0B368DD81BA8}"/>
              </a:ext>
            </a:extLst>
          </p:cNvPr>
          <p:cNvSpPr txBox="1"/>
          <p:nvPr/>
        </p:nvSpPr>
        <p:spPr>
          <a:xfrm>
            <a:off x="4345229" y="5813856"/>
            <a:ext cx="563270" cy="307777"/>
          </a:xfrm>
          <a:prstGeom prst="rect">
            <a:avLst/>
          </a:prstGeom>
          <a:noFill/>
        </p:spPr>
        <p:txBody>
          <a:bodyPr wrap="square" rtlCol="0">
            <a:spAutoFit/>
          </a:bodyPr>
          <a:lstStyle/>
          <a:p>
            <a:r>
              <a:rPr lang="en-US" dirty="0"/>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F6FC45AC-1189-9F2F-1528-1DA79227A7B4}"/>
            </a:ext>
          </a:extLst>
        </p:cNvPr>
        <p:cNvGrpSpPr/>
        <p:nvPr/>
      </p:nvGrpSpPr>
      <p:grpSpPr>
        <a:xfrm>
          <a:off x="0" y="0"/>
          <a:ext cx="0" cy="0"/>
          <a:chOff x="0" y="0"/>
          <a:chExt cx="0" cy="0"/>
        </a:xfrm>
      </p:grpSpPr>
      <p:sp>
        <p:nvSpPr>
          <p:cNvPr id="174" name="Google Shape;174;g3c61edcaedb_1_36">
            <a:extLst>
              <a:ext uri="{FF2B5EF4-FFF2-40B4-BE49-F238E27FC236}">
                <a16:creationId xmlns:a16="http://schemas.microsoft.com/office/drawing/2014/main" id="{3C6A5820-4E64-EB71-75C9-675199EAB109}"/>
              </a:ext>
            </a:extLst>
          </p:cNvPr>
          <p:cNvSpPr txBox="1"/>
          <p:nvPr/>
        </p:nvSpPr>
        <p:spPr>
          <a:xfrm>
            <a:off x="804671" y="4427748"/>
            <a:ext cx="7188600" cy="775567"/>
          </a:xfrm>
          <a:prstGeom prst="rect">
            <a:avLst/>
          </a:prstGeom>
          <a:noFill/>
          <a:ln>
            <a:noFill/>
          </a:ln>
        </p:spPr>
        <p:txBody>
          <a:bodyPr spcFirstLastPara="1" wrap="square" lIns="91425" tIns="91425" rIns="91425" bIns="91425" anchor="t" anchorCtr="0">
            <a:spAutoFit/>
          </a:bodyPr>
          <a:lstStyle/>
          <a:p>
            <a:pPr marL="457200" lvl="0" algn="just">
              <a:lnSpc>
                <a:spcPct val="115000"/>
              </a:lnSpc>
              <a:spcBef>
                <a:spcPts val="1200"/>
              </a:spcBef>
              <a:spcAft>
                <a:spcPts val="1200"/>
              </a:spcAft>
            </a:pPr>
            <a:r>
              <a:rPr lang="en-GB" sz="1500" b="1" dirty="0">
                <a:solidFill>
                  <a:schemeClr val="dk1"/>
                </a:solidFill>
                <a:latin typeface="Times New Roman"/>
                <a:ea typeface="Times New Roman"/>
                <a:cs typeface="Times New Roman"/>
                <a:sym typeface="Times New Roman"/>
              </a:rPr>
              <a:t>Fig 1.4 </a:t>
            </a:r>
            <a:r>
              <a:rPr lang="en-US" sz="1500" b="1" dirty="0">
                <a:latin typeface="Times New Roman" panose="02020603050405020304" pitchFamily="18" charset="0"/>
                <a:cs typeface="Times New Roman" panose="02020603050405020304" pitchFamily="18" charset="0"/>
              </a:rPr>
              <a:t>Hardware–Software Implementation Demo of NBA Locker System</a:t>
            </a:r>
            <a:endParaRPr sz="15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5" name="TextBox 4">
            <a:extLst>
              <a:ext uri="{FF2B5EF4-FFF2-40B4-BE49-F238E27FC236}">
                <a16:creationId xmlns:a16="http://schemas.microsoft.com/office/drawing/2014/main" id="{F0A8DFA1-E191-FA4B-FF6C-5E21142C1D1F}"/>
              </a:ext>
            </a:extLst>
          </p:cNvPr>
          <p:cNvSpPr txBox="1"/>
          <p:nvPr/>
        </p:nvSpPr>
        <p:spPr>
          <a:xfrm>
            <a:off x="4169664" y="5837530"/>
            <a:ext cx="383438" cy="307777"/>
          </a:xfrm>
          <a:prstGeom prst="rect">
            <a:avLst/>
          </a:prstGeom>
          <a:noFill/>
        </p:spPr>
        <p:txBody>
          <a:bodyPr wrap="none" rtlCol="0">
            <a:spAutoFit/>
          </a:bodyPr>
          <a:lstStyle/>
          <a:p>
            <a:r>
              <a:rPr lang="en-US" dirty="0"/>
              <a:t>16</a:t>
            </a:r>
          </a:p>
        </p:txBody>
      </p:sp>
      <p:sp>
        <p:nvSpPr>
          <p:cNvPr id="3" name="TextBox 2">
            <a:extLst>
              <a:ext uri="{FF2B5EF4-FFF2-40B4-BE49-F238E27FC236}">
                <a16:creationId xmlns:a16="http://schemas.microsoft.com/office/drawing/2014/main" id="{8FEDE4F1-8731-C1E9-0B62-73DF79016FA9}"/>
              </a:ext>
            </a:extLst>
          </p:cNvPr>
          <p:cNvSpPr txBox="1"/>
          <p:nvPr/>
        </p:nvSpPr>
        <p:spPr>
          <a:xfrm>
            <a:off x="555955" y="3172876"/>
            <a:ext cx="8229599"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https://drive.google.com/file/d/1DSJNradp6lKSVmRidummjNSDSU00mG3J/view?usp=drivesdk</a:t>
            </a:r>
          </a:p>
        </p:txBody>
      </p:sp>
    </p:spTree>
    <p:extLst>
      <p:ext uri="{BB962C8B-B14F-4D97-AF65-F5344CB8AC3E}">
        <p14:creationId xmlns:p14="http://schemas.microsoft.com/office/powerpoint/2010/main" val="4179915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A3A2-5E08-7550-75CB-DAC52FC7144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a:t>
            </a:r>
          </a:p>
        </p:txBody>
      </p:sp>
      <p:sp>
        <p:nvSpPr>
          <p:cNvPr id="10" name="Rectangle 5">
            <a:extLst>
              <a:ext uri="{FF2B5EF4-FFF2-40B4-BE49-F238E27FC236}">
                <a16:creationId xmlns:a16="http://schemas.microsoft.com/office/drawing/2014/main" id="{0FED0AC0-8CB8-E0F4-D15E-76E55F9B92F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FAD5CD85-DACE-A2E1-60F6-0F9F0DB15E3A}"/>
              </a:ext>
            </a:extLst>
          </p:cNvPr>
          <p:cNvSpPr>
            <a:spLocks noGrp="1" noChangeArrowheads="1"/>
          </p:cNvSpPr>
          <p:nvPr>
            <p:ph type="body" idx="1"/>
          </p:nvPr>
        </p:nvSpPr>
        <p:spPr bwMode="auto">
          <a:xfrm>
            <a:off x="377537" y="1410727"/>
            <a:ext cx="8031366"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was evaluated for security, performance, and reliability.</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RFID authentication correctly allows authorized users and blocks unauthorized access.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 RFID readers successfully detect both user entry and file presence.</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Node MCU controller manages all components smoothly.</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servo motor locks and unlocks the locker automatically.</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dashboard updates locker status and access data in real time.</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confirmed stable and consistent system operation.</a:t>
            </a:r>
          </a:p>
        </p:txBody>
      </p:sp>
      <p:sp>
        <p:nvSpPr>
          <p:cNvPr id="3" name="TextBox 2">
            <a:extLst>
              <a:ext uri="{FF2B5EF4-FFF2-40B4-BE49-F238E27FC236}">
                <a16:creationId xmlns:a16="http://schemas.microsoft.com/office/drawing/2014/main" id="{D8330C9B-8120-4A6F-ABC3-1F3C066FC45E}"/>
              </a:ext>
            </a:extLst>
          </p:cNvPr>
          <p:cNvSpPr txBox="1"/>
          <p:nvPr/>
        </p:nvSpPr>
        <p:spPr>
          <a:xfrm>
            <a:off x="4345229" y="5813856"/>
            <a:ext cx="563270" cy="307777"/>
          </a:xfrm>
          <a:prstGeom prst="rect">
            <a:avLst/>
          </a:prstGeom>
          <a:noFill/>
        </p:spPr>
        <p:txBody>
          <a:bodyPr wrap="square" rtlCol="0">
            <a:spAutoFit/>
          </a:bodyPr>
          <a:lstStyle/>
          <a:p>
            <a:r>
              <a:rPr lang="en-US" dirty="0"/>
              <a:t>17</a:t>
            </a:r>
          </a:p>
        </p:txBody>
      </p:sp>
    </p:spTree>
    <p:extLst>
      <p:ext uri="{BB962C8B-B14F-4D97-AF65-F5344CB8AC3E}">
        <p14:creationId xmlns:p14="http://schemas.microsoft.com/office/powerpoint/2010/main" val="2166766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0182-BDEB-A2E0-5F33-A32FFA0241A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6B1741D3-B949-41A3-8A7A-639867F49665}"/>
              </a:ext>
            </a:extLst>
          </p:cNvPr>
          <p:cNvSpPr>
            <a:spLocks noGrp="1"/>
          </p:cNvSpPr>
          <p:nvPr>
            <p:ph type="body" idx="1"/>
          </p:nvPr>
        </p:nvSpPr>
        <p:spPr>
          <a:xfrm>
            <a:off x="311700" y="1283073"/>
            <a:ext cx="8520600" cy="4555200"/>
          </a:xfrm>
        </p:spPr>
        <p:txBody>
          <a:bodyPr/>
          <a:lstStyle/>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system successfully demonstrated secure locker access using RFID.</a:t>
            </a:r>
          </a:p>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Authorized users accessed the locker while unauthorized users were denied.</a:t>
            </a:r>
          </a:p>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File placement and removal were detected accurately.</a:t>
            </a:r>
          </a:p>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Automatic locking worked correctly after each operation.</a:t>
            </a:r>
          </a:p>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dashboard displayed correct status and logs.</a:t>
            </a:r>
          </a:p>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system performed reliably during repeated testing.</a:t>
            </a:r>
          </a:p>
          <a:p>
            <a:endParaRPr lang="en-US" dirty="0"/>
          </a:p>
        </p:txBody>
      </p:sp>
      <p:sp>
        <p:nvSpPr>
          <p:cNvPr id="4" name="TextBox 3">
            <a:extLst>
              <a:ext uri="{FF2B5EF4-FFF2-40B4-BE49-F238E27FC236}">
                <a16:creationId xmlns:a16="http://schemas.microsoft.com/office/drawing/2014/main" id="{C0B9EA01-E7E9-BB05-8F27-6F81F76B0557}"/>
              </a:ext>
            </a:extLst>
          </p:cNvPr>
          <p:cNvSpPr txBox="1"/>
          <p:nvPr/>
        </p:nvSpPr>
        <p:spPr>
          <a:xfrm>
            <a:off x="4345229" y="5813856"/>
            <a:ext cx="563270" cy="307777"/>
          </a:xfrm>
          <a:prstGeom prst="rect">
            <a:avLst/>
          </a:prstGeom>
          <a:noFill/>
        </p:spPr>
        <p:txBody>
          <a:bodyPr wrap="square" rtlCol="0">
            <a:spAutoFit/>
          </a:bodyPr>
          <a:lstStyle/>
          <a:p>
            <a:r>
              <a:rPr lang="en-US" dirty="0"/>
              <a:t>18</a:t>
            </a:r>
          </a:p>
        </p:txBody>
      </p:sp>
    </p:spTree>
    <p:extLst>
      <p:ext uri="{BB962C8B-B14F-4D97-AF65-F5344CB8AC3E}">
        <p14:creationId xmlns:p14="http://schemas.microsoft.com/office/powerpoint/2010/main" val="1906896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9"/>
          <p:cNvSpPr txBox="1">
            <a:spLocks noGrp="1"/>
          </p:cNvSpPr>
          <p:nvPr>
            <p:ph type="title"/>
          </p:nvPr>
        </p:nvSpPr>
        <p:spPr>
          <a:xfrm>
            <a:off x="203200" y="432412"/>
            <a:ext cx="8229600" cy="683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GB" sz="3200" i="1">
                <a:latin typeface="Palatino Linotype"/>
                <a:ea typeface="Palatino Linotype"/>
                <a:cs typeface="Palatino Linotype"/>
                <a:sym typeface="Palatino Linotype"/>
              </a:rPr>
              <a:t>References</a:t>
            </a:r>
            <a:endParaRPr sz="3200" i="1">
              <a:latin typeface="Palatino Linotype"/>
              <a:ea typeface="Palatino Linotype"/>
              <a:cs typeface="Palatino Linotype"/>
              <a:sym typeface="Palatino Linotype"/>
            </a:endParaRPr>
          </a:p>
        </p:txBody>
      </p:sp>
      <p:sp>
        <p:nvSpPr>
          <p:cNvPr id="202" name="Google Shape;202;p9"/>
          <p:cNvSpPr txBox="1">
            <a:spLocks noGrp="1"/>
          </p:cNvSpPr>
          <p:nvPr>
            <p:ph type="body" idx="1"/>
          </p:nvPr>
        </p:nvSpPr>
        <p:spPr>
          <a:xfrm>
            <a:off x="203200" y="999900"/>
            <a:ext cx="8724000" cy="48582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SzPts val="1400"/>
              <a:buFont typeface="Times New Roman"/>
              <a:buAutoNum type="arabicPeriod"/>
            </a:pPr>
            <a:r>
              <a:rPr lang="en-GB" sz="1500" dirty="0">
                <a:solidFill>
                  <a:schemeClr val="dk1"/>
                </a:solidFill>
                <a:latin typeface="Times New Roman"/>
                <a:ea typeface="Times New Roman"/>
                <a:cs typeface="Times New Roman"/>
                <a:sym typeface="Times New Roman"/>
              </a:rPr>
              <a:t>C. </a:t>
            </a:r>
            <a:r>
              <a:rPr lang="en-GB" sz="1500" dirty="0" err="1">
                <a:solidFill>
                  <a:schemeClr val="dk1"/>
                </a:solidFill>
                <a:latin typeface="Times New Roman"/>
                <a:ea typeface="Times New Roman"/>
                <a:cs typeface="Times New Roman"/>
                <a:sym typeface="Times New Roman"/>
              </a:rPr>
              <a:t>Bharatiraja</a:t>
            </a:r>
            <a:r>
              <a:rPr lang="en-GB" sz="1500" dirty="0">
                <a:solidFill>
                  <a:schemeClr val="dk1"/>
                </a:solidFill>
                <a:latin typeface="Times New Roman"/>
                <a:ea typeface="Times New Roman"/>
                <a:cs typeface="Times New Roman"/>
                <a:sym typeface="Times New Roman"/>
              </a:rPr>
              <a:t>, P. K. Chittoor, and Y. V. Bhargava, “An IoT based centralized smart locker using RFID technology,” </a:t>
            </a:r>
            <a:r>
              <a:rPr lang="en-GB" sz="1500" i="1" dirty="0">
                <a:solidFill>
                  <a:schemeClr val="dk1"/>
                </a:solidFill>
                <a:latin typeface="Times New Roman"/>
                <a:ea typeface="Times New Roman"/>
                <a:cs typeface="Times New Roman"/>
                <a:sym typeface="Times New Roman"/>
              </a:rPr>
              <a:t>AIP Conference Proceedings</a:t>
            </a:r>
            <a:r>
              <a:rPr lang="en-GB" sz="1500" dirty="0">
                <a:solidFill>
                  <a:schemeClr val="dk1"/>
                </a:solidFill>
                <a:latin typeface="Times New Roman"/>
                <a:ea typeface="Times New Roman"/>
                <a:cs typeface="Times New Roman"/>
                <a:sym typeface="Times New Roman"/>
              </a:rPr>
              <a:t>, vol. 2427, p. 020098, Feb. 2023. DOI:</a:t>
            </a:r>
            <a:r>
              <a:rPr lang="en-GB" sz="1500" u="sng" dirty="0">
                <a:solidFill>
                  <a:schemeClr val="hlink"/>
                </a:solidFill>
                <a:latin typeface="Times New Roman"/>
                <a:ea typeface="Times New Roman"/>
                <a:cs typeface="Times New Roman"/>
                <a:sym typeface="Times New Roman"/>
                <a:hlinkClick r:id="rId3"/>
              </a:rPr>
              <a:t> 10.1063/5.0101139</a:t>
            </a:r>
            <a:endParaRPr sz="1500" u="sng" dirty="0">
              <a:solidFill>
                <a:schemeClr val="hlink"/>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SzPts val="1400"/>
              <a:buFont typeface="Times New Roman"/>
              <a:buAutoNum type="arabicPeriod"/>
            </a:pPr>
            <a:r>
              <a:rPr lang="en-GB" sz="1500" dirty="0">
                <a:solidFill>
                  <a:schemeClr val="dk1"/>
                </a:solidFill>
                <a:latin typeface="Times New Roman"/>
                <a:ea typeface="Times New Roman"/>
                <a:cs typeface="Times New Roman"/>
                <a:sym typeface="Times New Roman"/>
              </a:rPr>
              <a:t>K. R. </a:t>
            </a:r>
            <a:r>
              <a:rPr lang="en-GB" sz="1500" dirty="0" err="1">
                <a:solidFill>
                  <a:schemeClr val="dk1"/>
                </a:solidFill>
                <a:latin typeface="Times New Roman"/>
                <a:ea typeface="Times New Roman"/>
                <a:cs typeface="Times New Roman"/>
                <a:sym typeface="Times New Roman"/>
              </a:rPr>
              <a:t>Umadi</a:t>
            </a:r>
            <a:r>
              <a:rPr lang="en-GB" sz="1500" dirty="0">
                <a:solidFill>
                  <a:schemeClr val="dk1"/>
                </a:solidFill>
                <a:latin typeface="Times New Roman"/>
                <a:ea typeface="Times New Roman"/>
                <a:cs typeface="Times New Roman"/>
                <a:sym typeface="Times New Roman"/>
              </a:rPr>
              <a:t>, A. Aishwarya, J. E. </a:t>
            </a:r>
            <a:r>
              <a:rPr lang="en-GB" sz="1500" dirty="0" err="1">
                <a:solidFill>
                  <a:schemeClr val="dk1"/>
                </a:solidFill>
                <a:latin typeface="Times New Roman"/>
                <a:ea typeface="Times New Roman"/>
                <a:cs typeface="Times New Roman"/>
                <a:sym typeface="Times New Roman"/>
              </a:rPr>
              <a:t>Narendramath</a:t>
            </a:r>
            <a:r>
              <a:rPr lang="en-GB" sz="1500" dirty="0">
                <a:solidFill>
                  <a:schemeClr val="dk1"/>
                </a:solidFill>
                <a:latin typeface="Times New Roman"/>
                <a:ea typeface="Times New Roman"/>
                <a:cs typeface="Times New Roman"/>
                <a:sym typeface="Times New Roman"/>
              </a:rPr>
              <a:t>, and I. S. M. Inchara, “Smart E‑Locker System using IoT,” </a:t>
            </a:r>
            <a:r>
              <a:rPr lang="en-GB" sz="1500" i="1" dirty="0">
                <a:solidFill>
                  <a:schemeClr val="dk1"/>
                </a:solidFill>
                <a:latin typeface="Times New Roman"/>
                <a:ea typeface="Times New Roman"/>
                <a:cs typeface="Times New Roman"/>
                <a:sym typeface="Times New Roman"/>
              </a:rPr>
              <a:t>2023 Int. Conf. on Intelligent Data Communication &amp; IoT (</a:t>
            </a:r>
            <a:r>
              <a:rPr lang="en-GB" sz="1500" i="1" dirty="0" err="1">
                <a:solidFill>
                  <a:schemeClr val="dk1"/>
                </a:solidFill>
                <a:latin typeface="Times New Roman"/>
                <a:ea typeface="Times New Roman"/>
                <a:cs typeface="Times New Roman"/>
                <a:sym typeface="Times New Roman"/>
              </a:rPr>
              <a:t>IDCIoT</a:t>
            </a:r>
            <a:r>
              <a:rPr lang="en-GB" sz="1500" i="1" dirty="0">
                <a:solidFill>
                  <a:schemeClr val="dk1"/>
                </a:solidFill>
                <a:latin typeface="Times New Roman"/>
                <a:ea typeface="Times New Roman"/>
                <a:cs typeface="Times New Roman"/>
                <a:sym typeface="Times New Roman"/>
              </a:rPr>
              <a:t>)</a:t>
            </a:r>
            <a:r>
              <a:rPr lang="en-GB" sz="1500" dirty="0">
                <a:solidFill>
                  <a:schemeClr val="dk1"/>
                </a:solidFill>
                <a:latin typeface="Times New Roman"/>
                <a:ea typeface="Times New Roman"/>
                <a:cs typeface="Times New Roman"/>
                <a:sym typeface="Times New Roman"/>
              </a:rPr>
              <a:t>, DOI:</a:t>
            </a:r>
            <a:r>
              <a:rPr lang="en-GB" sz="1500" u="sng" dirty="0">
                <a:solidFill>
                  <a:schemeClr val="hlink"/>
                </a:solidFill>
                <a:latin typeface="Times New Roman"/>
                <a:ea typeface="Times New Roman"/>
                <a:cs typeface="Times New Roman"/>
                <a:sym typeface="Times New Roman"/>
                <a:hlinkClick r:id="rId4"/>
              </a:rPr>
              <a:t> 10.1109/IDCIoT56793.2023.10053507</a:t>
            </a:r>
            <a:endParaRPr sz="1500" u="sng" dirty="0">
              <a:solidFill>
                <a:schemeClr val="hlink"/>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SzPts val="1400"/>
              <a:buFont typeface="Times New Roman"/>
              <a:buAutoNum type="arabicPeriod"/>
            </a:pPr>
            <a:r>
              <a:rPr lang="en-GB" sz="1500" dirty="0">
                <a:solidFill>
                  <a:schemeClr val="dk1"/>
                </a:solidFill>
                <a:latin typeface="Times New Roman"/>
                <a:ea typeface="Times New Roman"/>
                <a:cs typeface="Times New Roman"/>
                <a:sym typeface="Times New Roman"/>
              </a:rPr>
              <a:t>M. </a:t>
            </a:r>
            <a:r>
              <a:rPr lang="en-GB" sz="1500" dirty="0" err="1">
                <a:solidFill>
                  <a:schemeClr val="dk1"/>
                </a:solidFill>
                <a:latin typeface="Times New Roman"/>
                <a:ea typeface="Times New Roman"/>
                <a:cs typeface="Times New Roman"/>
                <a:sym typeface="Times New Roman"/>
              </a:rPr>
              <a:t>Fazero</a:t>
            </a:r>
            <a:r>
              <a:rPr lang="en-GB" sz="1500" dirty="0">
                <a:solidFill>
                  <a:schemeClr val="dk1"/>
                </a:solidFill>
                <a:latin typeface="Times New Roman"/>
                <a:ea typeface="Times New Roman"/>
                <a:cs typeface="Times New Roman"/>
                <a:sym typeface="Times New Roman"/>
              </a:rPr>
              <a:t>, A. Rahman, and R. Fauzi, “A library locker security system with integrated RFID, dual camera monitoring, and Telegram notification,” </a:t>
            </a:r>
            <a:r>
              <a:rPr lang="en-GB" sz="1500" i="1" dirty="0">
                <a:solidFill>
                  <a:schemeClr val="dk1"/>
                </a:solidFill>
                <a:latin typeface="Times New Roman"/>
                <a:ea typeface="Times New Roman"/>
                <a:cs typeface="Times New Roman"/>
                <a:sym typeface="Times New Roman"/>
              </a:rPr>
              <a:t>J. </a:t>
            </a:r>
            <a:r>
              <a:rPr lang="en-GB" sz="1500" i="1" dirty="0" err="1">
                <a:solidFill>
                  <a:schemeClr val="dk1"/>
                </a:solidFill>
                <a:latin typeface="Times New Roman"/>
                <a:ea typeface="Times New Roman"/>
                <a:cs typeface="Times New Roman"/>
                <a:sym typeface="Times New Roman"/>
              </a:rPr>
              <a:t>Sistem</a:t>
            </a:r>
            <a:r>
              <a:rPr lang="en-GB" sz="1500" i="1" dirty="0">
                <a:solidFill>
                  <a:schemeClr val="dk1"/>
                </a:solidFill>
                <a:latin typeface="Times New Roman"/>
                <a:ea typeface="Times New Roman"/>
                <a:cs typeface="Times New Roman"/>
                <a:sym typeface="Times New Roman"/>
              </a:rPr>
              <a:t> Cerdas</a:t>
            </a:r>
            <a:r>
              <a:rPr lang="en-GB" sz="1500" dirty="0">
                <a:solidFill>
                  <a:schemeClr val="dk1"/>
                </a:solidFill>
                <a:latin typeface="Times New Roman"/>
                <a:ea typeface="Times New Roman"/>
                <a:cs typeface="Times New Roman"/>
                <a:sym typeface="Times New Roman"/>
              </a:rPr>
              <a:t>, vol. 7, pp. 75–86, Apr. 2024. DOI:</a:t>
            </a:r>
            <a:r>
              <a:rPr lang="en-GB" sz="1500" u="sng" dirty="0">
                <a:solidFill>
                  <a:schemeClr val="hlink"/>
                </a:solidFill>
                <a:latin typeface="Times New Roman"/>
                <a:ea typeface="Times New Roman"/>
                <a:cs typeface="Times New Roman"/>
                <a:sym typeface="Times New Roman"/>
                <a:hlinkClick r:id="rId5"/>
              </a:rPr>
              <a:t> 10.37396/jsc.v7i1.390</a:t>
            </a:r>
            <a:endParaRPr sz="1500" u="sng" dirty="0">
              <a:solidFill>
                <a:schemeClr val="hlink"/>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SzPts val="1400"/>
              <a:buFont typeface="Times New Roman"/>
              <a:buAutoNum type="arabicPeriod"/>
            </a:pPr>
            <a:r>
              <a:rPr lang="en-GB" sz="1500" dirty="0">
                <a:solidFill>
                  <a:schemeClr val="dk1"/>
                </a:solidFill>
                <a:latin typeface="Times New Roman"/>
                <a:ea typeface="Times New Roman"/>
                <a:cs typeface="Times New Roman"/>
                <a:sym typeface="Times New Roman"/>
              </a:rPr>
              <a:t>V. Krishna, A. S. Mehta, and D. Joshi, “Gesture‑based sign interpretation system using hand glove,” </a:t>
            </a:r>
            <a:r>
              <a:rPr lang="en-GB" sz="1500" i="1" dirty="0">
                <a:solidFill>
                  <a:schemeClr val="dk1"/>
                </a:solidFill>
                <a:latin typeface="Times New Roman"/>
                <a:ea typeface="Times New Roman"/>
                <a:cs typeface="Times New Roman"/>
                <a:sym typeface="Times New Roman"/>
              </a:rPr>
              <a:t>Int. Res. J. Eng. Technol.</a:t>
            </a:r>
            <a:r>
              <a:rPr lang="en-GB" sz="1500" dirty="0">
                <a:solidFill>
                  <a:schemeClr val="dk1"/>
                </a:solidFill>
                <a:latin typeface="Times New Roman"/>
                <a:ea typeface="Times New Roman"/>
                <a:cs typeface="Times New Roman"/>
                <a:sym typeface="Times New Roman"/>
              </a:rPr>
              <a:t>, vol. 10, no. 4, pp. 98–104, 2025.DOI:</a:t>
            </a:r>
            <a:r>
              <a:rPr lang="en-GB" sz="1500" u="sng" dirty="0">
                <a:solidFill>
                  <a:schemeClr val="hlink"/>
                </a:solidFill>
                <a:latin typeface="Times New Roman"/>
                <a:ea typeface="Times New Roman"/>
                <a:cs typeface="Times New Roman"/>
                <a:sym typeface="Times New Roman"/>
                <a:hlinkClick r:id="rId5"/>
              </a:rPr>
              <a:t> 10.37396/jsc.v7i1.390</a:t>
            </a:r>
            <a:endParaRPr sz="1500" u="sng" dirty="0">
              <a:solidFill>
                <a:schemeClr val="hlink"/>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SzPts val="1400"/>
              <a:buFont typeface="Times New Roman"/>
              <a:buAutoNum type="arabicPeriod"/>
            </a:pPr>
            <a:r>
              <a:rPr lang="en-GB" sz="1500" dirty="0">
                <a:solidFill>
                  <a:schemeClr val="dk1"/>
                </a:solidFill>
                <a:latin typeface="Times New Roman"/>
                <a:ea typeface="Times New Roman"/>
                <a:cs typeface="Times New Roman"/>
                <a:sym typeface="Times New Roman"/>
              </a:rPr>
              <a:t>A. Nair and S. Ramesh, “ESP32‑CAM smart locker with cloud logging,” </a:t>
            </a:r>
            <a:r>
              <a:rPr lang="en-GB" sz="1500" i="1" dirty="0">
                <a:solidFill>
                  <a:schemeClr val="dk1"/>
                </a:solidFill>
                <a:latin typeface="Times New Roman"/>
                <a:ea typeface="Times New Roman"/>
                <a:cs typeface="Times New Roman"/>
                <a:sym typeface="Times New Roman"/>
              </a:rPr>
              <a:t>Sensors &amp; IoT Conf. (2024)</a:t>
            </a:r>
            <a:r>
              <a:rPr lang="en-GB" sz="1500" dirty="0">
                <a:solidFill>
                  <a:schemeClr val="dk1"/>
                </a:solidFill>
                <a:latin typeface="Times New Roman"/>
                <a:ea typeface="Times New Roman"/>
                <a:cs typeface="Times New Roman"/>
                <a:sym typeface="Times New Roman"/>
              </a:rPr>
              <a:t>, pp. 66–72. DOI:</a:t>
            </a:r>
            <a:r>
              <a:rPr lang="en-GB" sz="1500" u="sng" dirty="0">
                <a:solidFill>
                  <a:schemeClr val="hlink"/>
                </a:solidFill>
                <a:latin typeface="Times New Roman"/>
                <a:ea typeface="Times New Roman"/>
                <a:cs typeface="Times New Roman"/>
                <a:sym typeface="Times New Roman"/>
                <a:hlinkClick r:id="rId5"/>
              </a:rPr>
              <a:t> 10.37396/jsc.v7i1.390</a:t>
            </a:r>
            <a:endParaRPr sz="1500" u="sng" dirty="0">
              <a:solidFill>
                <a:schemeClr val="hlink"/>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SzPts val="1400"/>
              <a:buFont typeface="Times New Roman"/>
              <a:buAutoNum type="arabicPeriod"/>
            </a:pPr>
            <a:r>
              <a:rPr lang="en-GB" sz="1500" dirty="0">
                <a:solidFill>
                  <a:schemeClr val="dk1"/>
                </a:solidFill>
                <a:latin typeface="Times New Roman"/>
                <a:ea typeface="Times New Roman"/>
                <a:cs typeface="Times New Roman"/>
                <a:sym typeface="Times New Roman"/>
              </a:rPr>
              <a:t>S. </a:t>
            </a:r>
            <a:r>
              <a:rPr lang="en-GB" sz="1500" dirty="0" err="1">
                <a:solidFill>
                  <a:schemeClr val="dk1"/>
                </a:solidFill>
                <a:latin typeface="Times New Roman"/>
                <a:ea typeface="Times New Roman"/>
                <a:cs typeface="Times New Roman"/>
                <a:sym typeface="Times New Roman"/>
              </a:rPr>
              <a:t>Chandrappa</a:t>
            </a:r>
            <a:r>
              <a:rPr lang="en-GB" sz="1500" dirty="0">
                <a:solidFill>
                  <a:schemeClr val="dk1"/>
                </a:solidFill>
                <a:latin typeface="Times New Roman"/>
                <a:ea typeface="Times New Roman"/>
                <a:cs typeface="Times New Roman"/>
                <a:sym typeface="Times New Roman"/>
              </a:rPr>
              <a:t>, P. K. Bhargava, and P. A. H., “Smart Locker 2.0: Leveraging IoT and ML for secure, user‑friendly public storage,” </a:t>
            </a:r>
            <a:r>
              <a:rPr lang="en-GB" sz="1500" i="1" dirty="0">
                <a:solidFill>
                  <a:schemeClr val="dk1"/>
                </a:solidFill>
                <a:latin typeface="Times New Roman"/>
                <a:ea typeface="Times New Roman"/>
                <a:cs typeface="Times New Roman"/>
                <a:sym typeface="Times New Roman"/>
              </a:rPr>
              <a:t>2025 Int. Conf. on AI &amp; Data Engineering (AIDE2025)</a:t>
            </a:r>
            <a:r>
              <a:rPr lang="en-GB" sz="1500" dirty="0">
                <a:solidFill>
                  <a:schemeClr val="dk1"/>
                </a:solidFill>
                <a:latin typeface="Times New Roman"/>
                <a:ea typeface="Times New Roman"/>
                <a:cs typeface="Times New Roman"/>
                <a:sym typeface="Times New Roman"/>
              </a:rPr>
              <a:t>, DOI:</a:t>
            </a:r>
            <a:r>
              <a:rPr lang="en-GB" sz="1500" u="sng" dirty="0">
                <a:solidFill>
                  <a:schemeClr val="hlink"/>
                </a:solidFill>
                <a:latin typeface="Times New Roman"/>
                <a:ea typeface="Times New Roman"/>
                <a:cs typeface="Times New Roman"/>
                <a:sym typeface="Times New Roman"/>
                <a:hlinkClick r:id="rId6"/>
              </a:rPr>
              <a:t> 10.1109/AIDE64228.2025.10987522</a:t>
            </a:r>
            <a:endParaRPr sz="1500" u="sng" dirty="0">
              <a:solidFill>
                <a:schemeClr val="hlink"/>
              </a:solidFill>
              <a:latin typeface="Times New Roman"/>
              <a:ea typeface="Times New Roman"/>
              <a:cs typeface="Times New Roman"/>
              <a:sym typeface="Times New Roman"/>
            </a:endParaRPr>
          </a:p>
          <a:p>
            <a:pPr marL="457200" lvl="0" indent="-228600" algn="l" rtl="0">
              <a:lnSpc>
                <a:spcPct val="100000"/>
              </a:lnSpc>
              <a:spcBef>
                <a:spcPts val="0"/>
              </a:spcBef>
              <a:spcAft>
                <a:spcPts val="0"/>
              </a:spcAft>
              <a:buSzPts val="2200"/>
              <a:buNone/>
            </a:pPr>
            <a:endParaRPr sz="1500" dirty="0"/>
          </a:p>
        </p:txBody>
      </p:sp>
      <p:sp>
        <p:nvSpPr>
          <p:cNvPr id="2" name="TextBox 1">
            <a:extLst>
              <a:ext uri="{FF2B5EF4-FFF2-40B4-BE49-F238E27FC236}">
                <a16:creationId xmlns:a16="http://schemas.microsoft.com/office/drawing/2014/main" id="{92A92034-8046-D864-CA77-5E51E1CFD91F}"/>
              </a:ext>
            </a:extLst>
          </p:cNvPr>
          <p:cNvSpPr txBox="1"/>
          <p:nvPr/>
        </p:nvSpPr>
        <p:spPr>
          <a:xfrm>
            <a:off x="4169664" y="5837530"/>
            <a:ext cx="383438" cy="523220"/>
          </a:xfrm>
          <a:prstGeom prst="rect">
            <a:avLst/>
          </a:prstGeom>
          <a:noFill/>
        </p:spPr>
        <p:txBody>
          <a:bodyPr wrap="none" rtlCol="0">
            <a:spAutoFit/>
          </a:bodyPr>
          <a:lstStyle/>
          <a:p>
            <a:r>
              <a:rPr lang="en-US" dirty="0"/>
              <a:t>19</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250DC-EBBC-E135-6ADF-5BDBF4B4B071}"/>
              </a:ext>
            </a:extLst>
          </p:cNvPr>
          <p:cNvSpPr>
            <a:spLocks noGrp="1"/>
          </p:cNvSpPr>
          <p:nvPr>
            <p:ph type="title"/>
          </p:nvPr>
        </p:nvSpPr>
        <p:spPr>
          <a:xfrm>
            <a:off x="535617" y="2575786"/>
            <a:ext cx="8520600" cy="763500"/>
          </a:xfrm>
        </p:spPr>
        <p:txBody>
          <a:bodyPr/>
          <a:lstStyle/>
          <a:p>
            <a:r>
              <a:rPr lang="en-US" dirty="0">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THANK YOU</a:t>
            </a:r>
            <a:br>
              <a:rPr lang="en-US"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380829849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5445</TotalTime>
  <Words>1373</Words>
  <Application>Microsoft Office PowerPoint</Application>
  <PresentationFormat>On-screen Show (4:3)</PresentationFormat>
  <Paragraphs>204</Paragraphs>
  <Slides>20</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Georgia</vt:lpstr>
      <vt:lpstr>Times New Roman</vt:lpstr>
      <vt:lpstr>Archivo Narrow</vt:lpstr>
      <vt:lpstr>Palatino Linotype</vt:lpstr>
      <vt:lpstr>Arial</vt:lpstr>
      <vt:lpstr>Simple Light</vt:lpstr>
      <vt:lpstr> EC 871 Project Work NBA File Locker System   Group Number:10 Project phase ॥- Final Review</vt:lpstr>
      <vt:lpstr> Topic</vt:lpstr>
      <vt:lpstr>Abstract</vt:lpstr>
      <vt:lpstr>Objectives</vt:lpstr>
      <vt:lpstr>                      LITERATURE REVIEW</vt:lpstr>
      <vt:lpstr>PowerPoint Presentation</vt:lpstr>
      <vt:lpstr>PowerPoint Presentation</vt:lpstr>
      <vt:lpstr>PowerPoint Presentation</vt:lpstr>
      <vt:lpstr>PowerPoint Presentation</vt:lpstr>
      <vt:lpstr> Block Diagram</vt:lpstr>
      <vt:lpstr>PowerPoint Presentation</vt:lpstr>
      <vt:lpstr>Hardware and Software to be used</vt:lpstr>
      <vt:lpstr>Software Components:</vt:lpstr>
      <vt:lpstr>`</vt:lpstr>
      <vt:lpstr>PowerPoint Presentation</vt:lpstr>
      <vt:lpstr>PowerPoint Presentation</vt:lpstr>
      <vt:lpstr>Analysis</vt:lpstr>
      <vt:lpstr>Results</vt:lpstr>
      <vt:lpstr>References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Tony Varkey</dc:creator>
  <cp:lastModifiedBy>challa_ Abhinaya</cp:lastModifiedBy>
  <cp:revision>11</cp:revision>
  <dcterms:modified xsi:type="dcterms:W3CDTF">2026-02-15T16:16:56Z</dcterms:modified>
</cp:coreProperties>
</file>